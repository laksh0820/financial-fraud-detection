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Cambria Math" panose="02040503050406030204" pitchFamily="18" charset="0"/>
      <p:regular r:id="rId25"/>
    </p:embeddedFont>
    <p:embeddedFont>
      <p:font typeface="Canva Sans Bold" panose="020B0604020202020204" charset="0"/>
      <p:regular r:id="rId26"/>
    </p:embeddedFont>
    <p:embeddedFont>
      <p:font typeface="DM Serif Display" pitchFamily="2" charset="0"/>
      <p:regular r:id="rId27"/>
      <p:italic r:id="rId28"/>
    </p:embeddedFont>
    <p:embeddedFont>
      <p:font typeface="Open Sauce" panose="020B0604020202020204" charset="0"/>
      <p:regular r:id="rId29"/>
    </p:embeddedFont>
    <p:embeddedFont>
      <p:font typeface="Open Sauce Bold" panose="020B0604020202020204" charset="0"/>
      <p:regular r:id="rId30"/>
    </p:embeddedFont>
    <p:embeddedFont>
      <p:font typeface="Open Sauce Semi-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laksh0820/Financial-Fraud-Detection"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2077239" y="2895554"/>
            <a:ext cx="14471172" cy="2432006"/>
          </a:xfrm>
          <a:prstGeom prst="rect">
            <a:avLst/>
          </a:prstGeom>
        </p:spPr>
        <p:txBody>
          <a:bodyPr lIns="0" tIns="0" rIns="0" bIns="0" rtlCol="0" anchor="t">
            <a:spAutoFit/>
          </a:bodyPr>
          <a:lstStyle/>
          <a:p>
            <a:pPr algn="ctr">
              <a:lnSpc>
                <a:spcPts val="9802"/>
              </a:lnSpc>
            </a:pPr>
            <a:r>
              <a:rPr lang="en-US" sz="7001">
                <a:solidFill>
                  <a:srgbClr val="000000"/>
                </a:solidFill>
                <a:latin typeface="DM Serif Display"/>
                <a:ea typeface="DM Serif Display"/>
                <a:cs typeface="DM Serif Display"/>
                <a:sym typeface="DM Serif Display"/>
              </a:rPr>
              <a:t>Financial Fraud Detection Using Graph Neural Networks</a:t>
            </a:r>
          </a:p>
        </p:txBody>
      </p:sp>
      <p:sp>
        <p:nvSpPr>
          <p:cNvPr id="4" name="TextBox 4"/>
          <p:cNvSpPr txBox="1"/>
          <p:nvPr/>
        </p:nvSpPr>
        <p:spPr>
          <a:xfrm>
            <a:off x="3151405" y="5721704"/>
            <a:ext cx="10792157" cy="143065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By Lakshya Agrawal (22CS30036)</a:t>
            </a:r>
          </a:p>
          <a:p>
            <a:pPr algn="l">
              <a:lnSpc>
                <a:spcPts val="3840"/>
              </a:lnSpc>
            </a:pPr>
            <a:r>
              <a:rPr lang="en-US" sz="2400">
                <a:solidFill>
                  <a:srgbClr val="000000"/>
                </a:solidFill>
                <a:latin typeface="Open Sauce"/>
                <a:ea typeface="Open Sauce"/>
                <a:cs typeface="Open Sauce"/>
                <a:sym typeface="Open Sauce"/>
              </a:rPr>
              <a:t>Supervised by Prof. Pabitra Mitra</a:t>
            </a:r>
          </a:p>
          <a:p>
            <a:pPr algn="l">
              <a:lnSpc>
                <a:spcPts val="3840"/>
              </a:lnSpc>
            </a:pPr>
            <a:r>
              <a:rPr lang="en-US" sz="2400">
                <a:solidFill>
                  <a:srgbClr val="000000"/>
                </a:solidFill>
                <a:latin typeface="Open Sauce"/>
                <a:ea typeface="Open Sauce"/>
                <a:cs typeface="Open Sauce"/>
                <a:sym typeface="Open Sauce"/>
              </a:rPr>
              <a:t>Department of CSE, IIT Kharagpur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51681"/>
            <a:ext cx="7824199"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Presentation Outline</a:t>
            </a:r>
          </a:p>
        </p:txBody>
      </p:sp>
      <p:sp>
        <p:nvSpPr>
          <p:cNvPr id="5" name="TextBox 5"/>
          <p:cNvSpPr txBox="1"/>
          <p:nvPr/>
        </p:nvSpPr>
        <p:spPr>
          <a:xfrm>
            <a:off x="1028700" y="2357851"/>
            <a:ext cx="7025660" cy="2887980"/>
          </a:xfrm>
          <a:prstGeom prst="rect">
            <a:avLst/>
          </a:prstGeom>
        </p:spPr>
        <p:txBody>
          <a:bodyPr lIns="0" tIns="0" rIns="0" bIns="0" rtlCol="0" anchor="t">
            <a:spAutoFit/>
          </a:bodyPr>
          <a:lstStyle/>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Problem Statement</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Existing Methodologies</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Our Methodology: Detailed GNN framework</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Experimental Setup and Results</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Analysis &amp; Comparison</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7359006"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Problem Statement</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2660339"/>
            <a:ext cx="15955203" cy="6288405"/>
          </a:xfrm>
          <a:prstGeom prst="rect">
            <a:avLst/>
          </a:prstGeom>
        </p:spPr>
        <p:txBody>
          <a:bodyPr lIns="0" tIns="0" rIns="0" bIns="0" rtlCol="0" anchor="t">
            <a:spAutoFit/>
          </a:bodyPr>
          <a:lstStyle/>
          <a:p>
            <a:pPr algn="l">
              <a:lnSpc>
                <a:spcPts val="3840"/>
              </a:lnSpc>
            </a:pPr>
            <a:r>
              <a:rPr lang="en-US" sz="2400" b="1">
                <a:solidFill>
                  <a:srgbClr val="000000"/>
                </a:solidFill>
                <a:latin typeface="Open Sauce Semi-Bold"/>
                <a:ea typeface="Open Sauce Semi-Bold"/>
                <a:cs typeface="Open Sauce Semi-Bold"/>
                <a:sym typeface="Open Sauce Semi-Bold"/>
              </a:rPr>
              <a:t>The Core Challenge:</a:t>
            </a:r>
            <a:r>
              <a:rPr lang="en-US" sz="2400">
                <a:solidFill>
                  <a:srgbClr val="000000"/>
                </a:solidFill>
                <a:latin typeface="Open Sauce"/>
                <a:ea typeface="Open Sauce"/>
                <a:cs typeface="Open Sauce"/>
                <a:sym typeface="Open Sauce"/>
              </a:rPr>
              <a:t> Existing financial fraud detection systems are fundamentally inadequate for identifying sophisticated, real-world fraud due to three critical, interconnected gaps.</a:t>
            </a:r>
          </a:p>
          <a:p>
            <a:pPr marL="518160" lvl="1" indent="-259080" algn="l">
              <a:lnSpc>
                <a:spcPts val="3840"/>
              </a:lnSpc>
              <a:buFont typeface="Arial"/>
              <a:buChar char="•"/>
            </a:pPr>
            <a:r>
              <a:rPr lang="en-US" sz="2400" b="1">
                <a:solidFill>
                  <a:srgbClr val="000000"/>
                </a:solidFill>
                <a:latin typeface="Open Sauce Semi-Bold"/>
                <a:ea typeface="Open Sauce Semi-Bold"/>
                <a:cs typeface="Open Sauce Semi-Bold"/>
                <a:sym typeface="Open Sauce Semi-Bold"/>
              </a:rPr>
              <a:t>The Imbalance Bottleneck:</a:t>
            </a:r>
          </a:p>
          <a:p>
            <a:pPr marL="1036320" lvl="2" indent="-345440" algn="l">
              <a:lnSpc>
                <a:spcPts val="3840"/>
              </a:lnSpc>
              <a:buFont typeface="Arial"/>
              <a:buChar char="⚬"/>
            </a:pPr>
            <a:r>
              <a:rPr lang="en-US" sz="2400">
                <a:solidFill>
                  <a:srgbClr val="000000"/>
                </a:solidFill>
                <a:latin typeface="Open Sauce"/>
                <a:ea typeface="Open Sauce"/>
                <a:cs typeface="Open Sauce"/>
                <a:sym typeface="Open Sauce"/>
              </a:rPr>
              <a:t>Fraudulent transactions are extremely rare (&lt;1%), causing models to be biased toward the majority class and miss subtle fraud patterns.</a:t>
            </a:r>
          </a:p>
          <a:p>
            <a:pPr marL="518160" lvl="1" indent="-259080" algn="l">
              <a:lnSpc>
                <a:spcPts val="3840"/>
              </a:lnSpc>
              <a:buFont typeface="Arial"/>
              <a:buChar char="•"/>
            </a:pPr>
            <a:r>
              <a:rPr lang="en-US" sz="2400" b="1">
                <a:solidFill>
                  <a:srgbClr val="000000"/>
                </a:solidFill>
                <a:latin typeface="Open Sauce Semi-Bold"/>
                <a:ea typeface="Open Sauce Semi-Bold"/>
                <a:cs typeface="Open Sauce Semi-Bold"/>
                <a:sym typeface="Open Sauce Semi-Bold"/>
              </a:rPr>
              <a:t>The Relational Blind Spot:</a:t>
            </a:r>
          </a:p>
          <a:p>
            <a:pPr marL="1036320" lvl="2" indent="-345440" algn="l">
              <a:lnSpc>
                <a:spcPts val="3840"/>
              </a:lnSpc>
              <a:buFont typeface="Arial"/>
              <a:buChar char="⚬"/>
            </a:pPr>
            <a:r>
              <a:rPr lang="en-US" sz="2400">
                <a:solidFill>
                  <a:srgbClr val="000000"/>
                </a:solidFill>
                <a:latin typeface="Open Sauce"/>
                <a:ea typeface="Open Sauce"/>
                <a:cs typeface="Open Sauce"/>
                <a:sym typeface="Open Sauce"/>
              </a:rPr>
              <a:t>Traditional models analyze transactions in isolation, failing to capture the complex, networked relationships between entities (e.g., customers, merchants, accounts) that reveal organized fraud rings.</a:t>
            </a:r>
          </a:p>
          <a:p>
            <a:pPr marL="518160" lvl="1" indent="-259080" algn="l">
              <a:lnSpc>
                <a:spcPts val="3840"/>
              </a:lnSpc>
              <a:buFont typeface="Arial"/>
              <a:buChar char="•"/>
            </a:pPr>
            <a:r>
              <a:rPr lang="en-US" sz="2400" b="1">
                <a:solidFill>
                  <a:srgbClr val="000000"/>
                </a:solidFill>
                <a:latin typeface="Open Sauce Semi-Bold"/>
                <a:ea typeface="Open Sauce Semi-Bold"/>
                <a:cs typeface="Open Sauce Semi-Bold"/>
                <a:sym typeface="Open Sauce Semi-Bold"/>
              </a:rPr>
              <a:t>The Temporal Modeling Gap:</a:t>
            </a:r>
          </a:p>
          <a:p>
            <a:pPr marL="1036320" lvl="2" indent="-345440" algn="l">
              <a:lnSpc>
                <a:spcPts val="3840"/>
              </a:lnSpc>
              <a:buFont typeface="Arial"/>
              <a:buChar char="⚬"/>
            </a:pPr>
            <a:r>
              <a:rPr lang="en-US" sz="2400">
                <a:solidFill>
                  <a:srgbClr val="000000"/>
                </a:solidFill>
                <a:latin typeface="Open Sauce"/>
                <a:ea typeface="Open Sauce"/>
                <a:cs typeface="Open Sauce"/>
                <a:sym typeface="Open Sauce"/>
              </a:rPr>
              <a:t>The evolving nature of fraud and financial behavior is not effectively captured, leading to models that may not generalize over time and are vulnerable to data leakage from improper time-series handling.</a:t>
            </a:r>
          </a:p>
          <a:p>
            <a:pPr algn="l">
              <a:lnSpc>
                <a:spcPts val="3840"/>
              </a:lnSpc>
            </a:pPr>
            <a:endParaRPr lang="en-US" sz="2400">
              <a:solidFill>
                <a:srgbClr val="000000"/>
              </a:solidFill>
              <a:latin typeface="Open Sauce"/>
              <a:ea typeface="Open Sauce"/>
              <a:cs typeface="Open Sauce"/>
              <a:sym typeface="Open Sau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7359006"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Problem Statement</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331752" y="2862929"/>
            <a:ext cx="15927548" cy="3859530"/>
          </a:xfrm>
          <a:prstGeom prst="rect">
            <a:avLst/>
          </a:prstGeom>
        </p:spPr>
        <p:txBody>
          <a:bodyPr lIns="0" tIns="0" rIns="0" bIns="0" rtlCol="0" anchor="t">
            <a:spAutoFit/>
          </a:bodyPr>
          <a:lstStyle/>
          <a:p>
            <a:pPr algn="l">
              <a:lnSpc>
                <a:spcPts val="3840"/>
              </a:lnSpc>
            </a:pPr>
            <a:r>
              <a:rPr lang="en-US" sz="2400" b="1">
                <a:solidFill>
                  <a:srgbClr val="000000"/>
                </a:solidFill>
                <a:latin typeface="Open Sauce Semi-Bold"/>
                <a:ea typeface="Open Sauce Semi-Bold"/>
                <a:cs typeface="Open Sauce Semi-Bold"/>
                <a:sym typeface="Open Sauce Semi-Bold"/>
              </a:rPr>
              <a:t>This research aims to answer the following key questions:</a:t>
            </a:r>
          </a:p>
          <a:p>
            <a:pPr marL="518160" lvl="1" indent="-259080" algn="l">
              <a:lnSpc>
                <a:spcPts val="3840"/>
              </a:lnSpc>
              <a:buAutoNum type="arabicPeriod"/>
            </a:pPr>
            <a:r>
              <a:rPr lang="en-US" sz="2400">
                <a:solidFill>
                  <a:srgbClr val="000000"/>
                </a:solidFill>
                <a:latin typeface="Open Sauce"/>
                <a:ea typeface="Open Sauce"/>
                <a:cs typeface="Open Sauce"/>
                <a:sym typeface="Open Sauce"/>
              </a:rPr>
              <a:t>How can we effectively model the complex relational structure of financial transaction data to uncover sophisticated fraud patterns that are invisible to conventional methods?</a:t>
            </a:r>
          </a:p>
          <a:p>
            <a:pPr marL="518160" lvl="1" indent="-259080" algn="l">
              <a:lnSpc>
                <a:spcPts val="3840"/>
              </a:lnSpc>
              <a:buAutoNum type="arabicPeriod"/>
            </a:pPr>
            <a:r>
              <a:rPr lang="en-US" sz="2400">
                <a:solidFill>
                  <a:srgbClr val="000000"/>
                </a:solidFill>
                <a:latin typeface="Open Sauce"/>
                <a:ea typeface="Open Sauce"/>
                <a:cs typeface="Open Sauce"/>
                <a:sym typeface="Open Sauce"/>
              </a:rPr>
              <a:t>What techniques can robustly overcome the extreme class imbalance to build a model that is both accurate and effective at detecting the fraudulent minority class?</a:t>
            </a:r>
          </a:p>
          <a:p>
            <a:pPr marL="518160" lvl="1" indent="-259080" algn="l">
              <a:lnSpc>
                <a:spcPts val="3840"/>
              </a:lnSpc>
              <a:buAutoNum type="arabicPeriod"/>
            </a:pPr>
            <a:r>
              <a:rPr lang="en-US" sz="2400">
                <a:solidFill>
                  <a:srgbClr val="000000"/>
                </a:solidFill>
                <a:latin typeface="Open Sauce"/>
                <a:ea typeface="Open Sauce"/>
                <a:cs typeface="Open Sauce"/>
                <a:sym typeface="Open Sauce"/>
              </a:rPr>
              <a:t>How can temporal dynamics be integrated into a graph-based framework to improve the realism and generalizability of fraud detection systems?</a:t>
            </a:r>
          </a:p>
          <a:p>
            <a:pPr algn="just">
              <a:lnSpc>
                <a:spcPts val="3840"/>
              </a:lnSpc>
              <a:spcBef>
                <a:spcPct val="0"/>
              </a:spcBef>
            </a:pPr>
            <a:endParaRPr lang="en-US" sz="2400">
              <a:solidFill>
                <a:srgbClr val="000000"/>
              </a:solidFill>
              <a:latin typeface="Open Sauce"/>
              <a:ea typeface="Open Sauce"/>
              <a:cs typeface="Open Sauce"/>
              <a:sym typeface="Open Sau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9272360"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Existing Methodologies</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331752" y="2862929"/>
            <a:ext cx="15927548" cy="5802630"/>
          </a:xfrm>
          <a:prstGeom prst="rect">
            <a:avLst/>
          </a:prstGeom>
        </p:spPr>
        <p:txBody>
          <a:bodyPr lIns="0" tIns="0" rIns="0" bIns="0" rtlCol="0" anchor="t">
            <a:spAutoFit/>
          </a:bodyPr>
          <a:lstStyle/>
          <a:p>
            <a:pPr marL="518160" lvl="1" indent="-259080" algn="l">
              <a:lnSpc>
                <a:spcPts val="3840"/>
              </a:lnSpc>
              <a:buFont typeface="Arial"/>
              <a:buChar char="•"/>
            </a:pPr>
            <a:r>
              <a:rPr lang="en-US" sz="2400" b="1">
                <a:solidFill>
                  <a:srgbClr val="000000"/>
                </a:solidFill>
                <a:latin typeface="Open Sauce Bold"/>
                <a:ea typeface="Open Sauce Bold"/>
                <a:cs typeface="Open Sauce Bold"/>
                <a:sym typeface="Open Sauce Bold"/>
              </a:rPr>
              <a:t>Traditional ML Models:</a:t>
            </a:r>
            <a:r>
              <a:rPr lang="en-US" sz="2400">
                <a:solidFill>
                  <a:srgbClr val="000000"/>
                </a:solidFill>
                <a:latin typeface="Open Sauce"/>
                <a:ea typeface="Open Sauce"/>
                <a:cs typeface="Open Sauce"/>
                <a:sym typeface="Open Sauce"/>
              </a:rPr>
              <a:t> Logistic Regression, Random Forest, etc., treat transactions as independent, ignoring crucial relational context.</a:t>
            </a:r>
          </a:p>
          <a:p>
            <a:pPr marL="518160" lvl="1" indent="-259080" algn="l">
              <a:lnSpc>
                <a:spcPts val="3840"/>
              </a:lnSpc>
              <a:buFont typeface="Arial"/>
              <a:buChar char="•"/>
            </a:pPr>
            <a:r>
              <a:rPr lang="en-US" sz="2400" b="1">
                <a:solidFill>
                  <a:srgbClr val="000000"/>
                </a:solidFill>
                <a:latin typeface="Open Sauce Bold"/>
                <a:ea typeface="Open Sauce Bold"/>
                <a:cs typeface="Open Sauce Bold"/>
                <a:sym typeface="Open Sauce Bold"/>
              </a:rPr>
              <a:t>Graph-Based Approaches:</a:t>
            </a:r>
          </a:p>
          <a:p>
            <a:pPr marL="1036320" lvl="2" indent="-345440" algn="l">
              <a:lnSpc>
                <a:spcPts val="3840"/>
              </a:lnSpc>
              <a:buFont typeface="Arial"/>
              <a:buChar char="⚬"/>
            </a:pPr>
            <a:r>
              <a:rPr lang="en-US" sz="2400" b="1">
                <a:solidFill>
                  <a:srgbClr val="000000"/>
                </a:solidFill>
                <a:latin typeface="Open Sauce Bold"/>
                <a:ea typeface="Open Sauce Bold"/>
                <a:cs typeface="Open Sauce Bold"/>
                <a:sym typeface="Open Sauce Bold"/>
              </a:rPr>
              <a:t>Graph Neural Networks (GNNs):</a:t>
            </a:r>
            <a:r>
              <a:rPr lang="en-US" sz="2400">
                <a:solidFill>
                  <a:srgbClr val="000000"/>
                </a:solidFill>
                <a:latin typeface="Open Sauce"/>
                <a:ea typeface="Open Sauce"/>
                <a:cs typeface="Open Sauce"/>
                <a:sym typeface="Open Sauce"/>
              </a:rPr>
              <a:t> Learn from both node features and graph topology via message-passing.</a:t>
            </a:r>
          </a:p>
          <a:p>
            <a:pPr marL="1036320" lvl="2" indent="-345440" algn="l">
              <a:lnSpc>
                <a:spcPts val="3840"/>
              </a:lnSpc>
              <a:buFont typeface="Arial"/>
              <a:buChar char="⚬"/>
            </a:pPr>
            <a:r>
              <a:rPr lang="en-US" sz="2400" b="1">
                <a:solidFill>
                  <a:srgbClr val="000000"/>
                </a:solidFill>
                <a:latin typeface="Open Sauce Bold"/>
                <a:ea typeface="Open Sauce Bold"/>
                <a:cs typeface="Open Sauce Bold"/>
                <a:sym typeface="Open Sauce Bold"/>
              </a:rPr>
              <a:t>Graph Attention Networks (GATs): </a:t>
            </a:r>
            <a:r>
              <a:rPr lang="en-US" sz="2400">
                <a:solidFill>
                  <a:srgbClr val="000000"/>
                </a:solidFill>
                <a:latin typeface="Open Sauce"/>
                <a:ea typeface="Open Sauce"/>
                <a:cs typeface="Open Sauce"/>
                <a:sym typeface="Open Sauce"/>
              </a:rPr>
              <a:t>Use self-attention to weigh the importance of different connections, making them highly suitable for fraud detection.</a:t>
            </a:r>
          </a:p>
          <a:p>
            <a:pPr marL="518160" lvl="1" indent="-259080" algn="l">
              <a:lnSpc>
                <a:spcPts val="3840"/>
              </a:lnSpc>
              <a:buFont typeface="Arial"/>
              <a:buChar char="•"/>
            </a:pPr>
            <a:r>
              <a:rPr lang="en-US" sz="2400" b="1">
                <a:solidFill>
                  <a:srgbClr val="000000"/>
                </a:solidFill>
                <a:latin typeface="Open Sauce Bold"/>
                <a:ea typeface="Open Sauce Bold"/>
                <a:cs typeface="Open Sauce Bold"/>
                <a:sym typeface="Open Sauce Bold"/>
              </a:rPr>
              <a:t>Handling Class Imbalance:</a:t>
            </a:r>
          </a:p>
          <a:p>
            <a:pPr marL="1036320" lvl="2" indent="-345440" algn="l">
              <a:lnSpc>
                <a:spcPts val="3840"/>
              </a:lnSpc>
              <a:buFont typeface="Arial"/>
              <a:buChar char="⚬"/>
            </a:pPr>
            <a:r>
              <a:rPr lang="en-US" sz="2400" b="1">
                <a:solidFill>
                  <a:srgbClr val="000000"/>
                </a:solidFill>
                <a:latin typeface="Open Sauce Bold"/>
                <a:ea typeface="Open Sauce Bold"/>
                <a:cs typeface="Open Sauce Bold"/>
                <a:sym typeface="Open Sauce Bold"/>
              </a:rPr>
              <a:t>Sampling Methods:</a:t>
            </a:r>
            <a:r>
              <a:rPr lang="en-US" sz="2400">
                <a:solidFill>
                  <a:srgbClr val="000000"/>
                </a:solidFill>
                <a:latin typeface="Open Sauce"/>
                <a:ea typeface="Open Sauce"/>
                <a:cs typeface="Open Sauce"/>
                <a:sym typeface="Open Sauce"/>
              </a:rPr>
              <a:t> SMOTE (oversampling) and down-sampling.</a:t>
            </a:r>
          </a:p>
          <a:p>
            <a:pPr marL="1036320" lvl="2" indent="-345440" algn="l">
              <a:lnSpc>
                <a:spcPts val="3840"/>
              </a:lnSpc>
              <a:buFont typeface="Arial"/>
              <a:buChar char="⚬"/>
            </a:pPr>
            <a:r>
              <a:rPr lang="en-US" sz="2400" b="1">
                <a:solidFill>
                  <a:srgbClr val="000000"/>
                </a:solidFill>
                <a:latin typeface="Open Sauce Bold"/>
                <a:ea typeface="Open Sauce Bold"/>
                <a:cs typeface="Open Sauce Bold"/>
                <a:sym typeface="Open Sauce Bold"/>
              </a:rPr>
              <a:t>Cost-Sensitive Learning: </a:t>
            </a:r>
            <a:r>
              <a:rPr lang="en-US" sz="2400">
                <a:solidFill>
                  <a:srgbClr val="000000"/>
                </a:solidFill>
                <a:latin typeface="Open Sauce"/>
                <a:ea typeface="Open Sauce"/>
                <a:cs typeface="Open Sauce"/>
                <a:sym typeface="Open Sauce"/>
              </a:rPr>
              <a:t>Assigning higher misclassification costs to fraud.</a:t>
            </a:r>
          </a:p>
          <a:p>
            <a:pPr marL="1036320" lvl="2" indent="-345440" algn="l">
              <a:lnSpc>
                <a:spcPts val="3840"/>
              </a:lnSpc>
              <a:buFont typeface="Arial"/>
              <a:buChar char="⚬"/>
            </a:pPr>
            <a:r>
              <a:rPr lang="en-US" sz="2400" b="1">
                <a:solidFill>
                  <a:srgbClr val="000000"/>
                </a:solidFill>
                <a:latin typeface="Open Sauce Bold"/>
                <a:ea typeface="Open Sauce Bold"/>
                <a:cs typeface="Open Sauce Bold"/>
                <a:sym typeface="Open Sauce Bold"/>
              </a:rPr>
              <a:t>Loss Function Modifications:</a:t>
            </a:r>
            <a:r>
              <a:rPr lang="en-US" sz="2400">
                <a:solidFill>
                  <a:srgbClr val="000000"/>
                </a:solidFill>
                <a:latin typeface="Open Sauce"/>
                <a:ea typeface="Open Sauce"/>
                <a:cs typeface="Open Sauce"/>
                <a:sym typeface="Open Sauce"/>
              </a:rPr>
              <a:t> Using Focal Loss to focus learning on hard examples.</a:t>
            </a:r>
          </a:p>
          <a:p>
            <a:pPr algn="just">
              <a:lnSpc>
                <a:spcPts val="3840"/>
              </a:lnSpc>
              <a:spcBef>
                <a:spcPct val="0"/>
              </a:spcBef>
            </a:pPr>
            <a:endParaRPr lang="en-US" sz="2400">
              <a:solidFill>
                <a:srgbClr val="000000"/>
              </a:solidFill>
              <a:latin typeface="Open Sauce"/>
              <a:ea typeface="Open Sauce"/>
              <a:cs typeface="Open Sauce"/>
              <a:sym typeface="Open Sauc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aphicFrame>
        <p:nvGraphicFramePr>
          <p:cNvPr id="4" name="Table 4"/>
          <p:cNvGraphicFramePr>
            <a:graphicFrameLocks noGrp="1"/>
          </p:cNvGraphicFramePr>
          <p:nvPr/>
        </p:nvGraphicFramePr>
        <p:xfrm>
          <a:off x="2470662" y="4343114"/>
          <a:ext cx="13346677" cy="5796806"/>
        </p:xfrm>
        <a:graphic>
          <a:graphicData uri="http://schemas.openxmlformats.org/drawingml/2006/table">
            <a:tbl>
              <a:tblPr/>
              <a:tblGrid>
                <a:gridCol w="4300145">
                  <a:extLst>
                    <a:ext uri="{9D8B030D-6E8A-4147-A177-3AD203B41FA5}">
                      <a16:colId xmlns:a16="http://schemas.microsoft.com/office/drawing/2014/main" val="20000"/>
                    </a:ext>
                  </a:extLst>
                </a:gridCol>
                <a:gridCol w="9046532">
                  <a:extLst>
                    <a:ext uri="{9D8B030D-6E8A-4147-A177-3AD203B41FA5}">
                      <a16:colId xmlns:a16="http://schemas.microsoft.com/office/drawing/2014/main" val="20001"/>
                    </a:ext>
                  </a:extLst>
                </a:gridCol>
              </a:tblGrid>
              <a:tr h="795805">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Field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Description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5918">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Step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Represents 1 hour of time. Total duration is 30 days (744 steps).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50562">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action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100"/>
                    </a:p>
                    <a:p>
                      <a:pPr algn="ctr">
                        <a:lnSpc>
                          <a:spcPts val="2799"/>
                        </a:lnSpc>
                      </a:pPr>
                      <a:r>
                        <a:rPr lang="en-US" sz="1999">
                          <a:solidFill>
                            <a:srgbClr val="000000"/>
                          </a:solidFill>
                          <a:latin typeface="Open Sauce"/>
                          <a:ea typeface="Open Sauce"/>
                          <a:cs typeface="Open Sauce"/>
                          <a:sym typeface="Open Sauce"/>
                        </a:rPr>
                        <a:t>Transaction type (CASH-IN, CASH-OUT, DEBIT, PAYMENT, TRANSFER).</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5918">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amount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The value of the transaction.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18003">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nameOrig / nameDest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Originating and destination customers.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80600">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isFraud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The ground truth label; 1 if fraudulent, 0 otherwise.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Box 5"/>
          <p:cNvSpPr txBox="1"/>
          <p:nvPr/>
        </p:nvSpPr>
        <p:spPr>
          <a:xfrm>
            <a:off x="1166399" y="1090950"/>
            <a:ext cx="15927548" cy="1106200"/>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Our Methodology: Detailed GNN framework</a:t>
            </a:r>
          </a:p>
        </p:txBody>
      </p:sp>
      <p:sp>
        <p:nvSpPr>
          <p:cNvPr id="6" name="TextBox 6"/>
          <p:cNvSpPr txBox="1"/>
          <p:nvPr/>
        </p:nvSpPr>
        <p:spPr>
          <a:xfrm>
            <a:off x="1331752" y="2862929"/>
            <a:ext cx="15927548" cy="459105"/>
          </a:xfrm>
          <a:prstGeom prst="rect">
            <a:avLst/>
          </a:prstGeom>
        </p:spPr>
        <p:txBody>
          <a:bodyPr lIns="0" tIns="0" rIns="0" bIns="0" rtlCol="0" anchor="t">
            <a:spAutoFit/>
          </a:bodyPr>
          <a:lstStyle/>
          <a:p>
            <a:pPr algn="just">
              <a:lnSpc>
                <a:spcPts val="3840"/>
              </a:lnSpc>
              <a:spcBef>
                <a:spcPct val="0"/>
              </a:spcBef>
            </a:pPr>
            <a:endParaRPr/>
          </a:p>
        </p:txBody>
      </p:sp>
      <p:sp>
        <p:nvSpPr>
          <p:cNvPr id="7" name="TextBox 7"/>
          <p:cNvSpPr txBox="1"/>
          <p:nvPr/>
        </p:nvSpPr>
        <p:spPr>
          <a:xfrm>
            <a:off x="1194054" y="2311750"/>
            <a:ext cx="15927548" cy="646429"/>
          </a:xfrm>
          <a:prstGeom prst="rect">
            <a:avLst/>
          </a:prstGeom>
        </p:spPr>
        <p:txBody>
          <a:bodyPr lIns="0" tIns="0" rIns="0" bIns="0" rtlCol="0" anchor="t">
            <a:spAutoFit/>
          </a:bodyPr>
          <a:lstStyle/>
          <a:p>
            <a:pPr algn="l">
              <a:lnSpc>
                <a:spcPts val="5320"/>
              </a:lnSpc>
            </a:pPr>
            <a:r>
              <a:rPr lang="en-US" sz="3800" b="1" dirty="0">
                <a:solidFill>
                  <a:srgbClr val="000000"/>
                </a:solidFill>
                <a:latin typeface="Canva Sans Bold"/>
                <a:ea typeface="Canva Sans Bold"/>
                <a:cs typeface="Canva Sans Bold"/>
                <a:sym typeface="Canva Sans Bold"/>
              </a:rPr>
              <a:t>(1) Data Analysis: </a:t>
            </a:r>
            <a:r>
              <a:rPr lang="en-US" sz="3800" b="1" dirty="0" err="1">
                <a:solidFill>
                  <a:srgbClr val="000000"/>
                </a:solidFill>
                <a:latin typeface="Canva Sans Bold"/>
                <a:ea typeface="Canva Sans Bold"/>
                <a:cs typeface="Canva Sans Bold"/>
                <a:sym typeface="Canva Sans Bold"/>
              </a:rPr>
              <a:t>PaySim</a:t>
            </a:r>
            <a:r>
              <a:rPr lang="en-US" sz="3800" b="1" dirty="0">
                <a:solidFill>
                  <a:srgbClr val="000000"/>
                </a:solidFill>
                <a:latin typeface="Canva Sans Bold"/>
                <a:ea typeface="Canva Sans Bold"/>
                <a:cs typeface="Canva Sans Bold"/>
                <a:sym typeface="Canva Sans Bold"/>
              </a:rPr>
              <a:t> Simulator Data</a:t>
            </a:r>
          </a:p>
        </p:txBody>
      </p:sp>
      <p:sp>
        <p:nvSpPr>
          <p:cNvPr id="8" name="TextBox 8"/>
          <p:cNvSpPr txBox="1"/>
          <p:nvPr/>
        </p:nvSpPr>
        <p:spPr>
          <a:xfrm>
            <a:off x="1166399" y="3226784"/>
            <a:ext cx="15665211" cy="944880"/>
          </a:xfrm>
          <a:prstGeom prst="rect">
            <a:avLst/>
          </a:prstGeom>
        </p:spPr>
        <p:txBody>
          <a:bodyPr lIns="0" tIns="0" rIns="0" bIns="0" rtlCol="0" anchor="t">
            <a:spAutoFit/>
          </a:bodyPr>
          <a:lstStyle/>
          <a:p>
            <a:pPr algn="l">
              <a:lnSpc>
                <a:spcPts val="3840"/>
              </a:lnSpc>
              <a:spcBef>
                <a:spcPct val="0"/>
              </a:spcBef>
            </a:pPr>
            <a:r>
              <a:rPr lang="en-US" sz="2400">
                <a:solidFill>
                  <a:srgbClr val="000000"/>
                </a:solidFill>
                <a:latin typeface="Open Sauce"/>
                <a:ea typeface="Open Sauce"/>
                <a:cs typeface="Open Sauce"/>
                <a:sym typeface="Open Sauce"/>
              </a:rPr>
              <a:t>The research utilizes a dataset generated by the PaySim simulator, which mimics mobile money transactions and injects fraudulent behavior.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pic>
        <p:nvPicPr>
          <p:cNvPr id="4" name="Picture 4"/>
          <p:cNvPicPr>
            <a:picLocks noChangeAspect="1"/>
          </p:cNvPicPr>
          <p:nvPr/>
        </p:nvPicPr>
        <p:blipFill>
          <a:blip r:embed="rId3"/>
          <a:stretch>
            <a:fillRect/>
          </a:stretch>
        </p:blipFill>
        <p:spPr>
          <a:xfrm>
            <a:off x="615175" y="793508"/>
            <a:ext cx="4615416" cy="4962304"/>
          </a:xfrm>
          <a:prstGeom prst="rect">
            <a:avLst/>
          </a:prstGeom>
        </p:spPr>
      </p:pic>
      <p:sp>
        <p:nvSpPr>
          <p:cNvPr id="5" name="Freeform 5"/>
          <p:cNvSpPr/>
          <p:nvPr/>
        </p:nvSpPr>
        <p:spPr>
          <a:xfrm>
            <a:off x="5843774" y="1215314"/>
            <a:ext cx="4543970" cy="4135253"/>
          </a:xfrm>
          <a:custGeom>
            <a:avLst/>
            <a:gdLst/>
            <a:ahLst/>
            <a:cxnLst/>
            <a:rect l="l" t="t" r="r" b="b"/>
            <a:pathLst>
              <a:path w="4543970" h="4135253">
                <a:moveTo>
                  <a:pt x="0" y="0"/>
                </a:moveTo>
                <a:lnTo>
                  <a:pt x="4543970" y="0"/>
                </a:lnTo>
                <a:lnTo>
                  <a:pt x="4543970" y="4135253"/>
                </a:lnTo>
                <a:lnTo>
                  <a:pt x="0" y="4135253"/>
                </a:lnTo>
                <a:lnTo>
                  <a:pt x="0" y="0"/>
                </a:lnTo>
                <a:close/>
              </a:path>
            </a:pathLst>
          </a:custGeom>
          <a:blipFill>
            <a:blip r:embed="rId4"/>
            <a:stretch>
              <a:fillRect/>
            </a:stretch>
          </a:blipFill>
        </p:spPr>
      </p:sp>
      <p:sp>
        <p:nvSpPr>
          <p:cNvPr id="6" name="Freeform 6"/>
          <p:cNvSpPr/>
          <p:nvPr/>
        </p:nvSpPr>
        <p:spPr>
          <a:xfrm>
            <a:off x="11746405" y="1215314"/>
            <a:ext cx="4680208" cy="4135253"/>
          </a:xfrm>
          <a:custGeom>
            <a:avLst/>
            <a:gdLst/>
            <a:ahLst/>
            <a:cxnLst/>
            <a:rect l="l" t="t" r="r" b="b"/>
            <a:pathLst>
              <a:path w="4680208" h="4135253">
                <a:moveTo>
                  <a:pt x="0" y="0"/>
                </a:moveTo>
                <a:lnTo>
                  <a:pt x="4680208" y="0"/>
                </a:lnTo>
                <a:lnTo>
                  <a:pt x="4680208" y="4135253"/>
                </a:lnTo>
                <a:lnTo>
                  <a:pt x="0" y="4135253"/>
                </a:lnTo>
                <a:lnTo>
                  <a:pt x="0" y="0"/>
                </a:lnTo>
                <a:close/>
              </a:path>
            </a:pathLst>
          </a:custGeom>
          <a:blipFill>
            <a:blip r:embed="rId5"/>
            <a:stretch>
              <a:fillRect/>
            </a:stretch>
          </a:blipFill>
        </p:spPr>
      </p:sp>
      <p:sp>
        <p:nvSpPr>
          <p:cNvPr id="7" name="TextBox 7"/>
          <p:cNvSpPr txBox="1"/>
          <p:nvPr/>
        </p:nvSpPr>
        <p:spPr>
          <a:xfrm>
            <a:off x="1366559" y="5670550"/>
            <a:ext cx="15883216" cy="3373755"/>
          </a:xfrm>
          <a:prstGeom prst="rect">
            <a:avLst/>
          </a:prstGeom>
        </p:spPr>
        <p:txBody>
          <a:bodyPr lIns="0" tIns="0" rIns="0" bIns="0" rtlCol="0" anchor="t">
            <a:spAutoFit/>
          </a:bodyPr>
          <a:lstStyle/>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 dataset contains 6,354,407 legitimate transactions (99.87%) and only 8,213 fraudulent ones (0.13%).</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This equates to a ratio of approximately 774:1. Without proper handling, a model could achieve 99.87% accuracy by simply predicting 'not fraud' every time, making it useless for actual detection.</a:t>
            </a: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 majority of transactions are </a:t>
            </a:r>
            <a:r>
              <a:rPr lang="en-US" sz="2400" b="1">
                <a:solidFill>
                  <a:srgbClr val="000000"/>
                </a:solidFill>
                <a:latin typeface="Open Sauce Bold"/>
                <a:ea typeface="Open Sauce Bold"/>
                <a:cs typeface="Open Sauce Bold"/>
                <a:sym typeface="Open Sauce Bold"/>
              </a:rPr>
              <a:t>CASH_OUT</a:t>
            </a:r>
            <a:r>
              <a:rPr lang="en-US" sz="2400">
                <a:solidFill>
                  <a:srgbClr val="000000"/>
                </a:solidFill>
                <a:latin typeface="Open Sauce"/>
                <a:ea typeface="Open Sauce"/>
                <a:cs typeface="Open Sauce"/>
                <a:sym typeface="Open Sauce"/>
              </a:rPr>
              <a:t> and</a:t>
            </a:r>
            <a:r>
              <a:rPr lang="en-US" sz="2400" b="1">
                <a:solidFill>
                  <a:srgbClr val="000000"/>
                </a:solidFill>
                <a:latin typeface="Open Sauce Bold"/>
                <a:ea typeface="Open Sauce Bold"/>
                <a:cs typeface="Open Sauce Bold"/>
                <a:sym typeface="Open Sauce Bold"/>
              </a:rPr>
              <a:t> PAYMENT</a:t>
            </a:r>
            <a:r>
              <a:rPr lang="en-US" sz="2400">
                <a:solidFill>
                  <a:srgbClr val="000000"/>
                </a:solidFill>
                <a:latin typeface="Open Sauce"/>
                <a:ea typeface="Open Sauce"/>
                <a:cs typeface="Open Sauce"/>
                <a:sym typeface="Open Sauce"/>
              </a:rPr>
              <a:t> types, indicating high volumes of withdrawals and purchases.</a:t>
            </a:r>
          </a:p>
          <a:p>
            <a:pPr marL="518160" lvl="1" indent="-259080" algn="l">
              <a:lnSpc>
                <a:spcPts val="3840"/>
              </a:lnSpc>
              <a:spcBef>
                <a:spcPct val="0"/>
              </a:spcBef>
              <a:buFont typeface="Arial"/>
              <a:buChar char="•"/>
            </a:pPr>
            <a:r>
              <a:rPr lang="en-US" sz="2400">
                <a:solidFill>
                  <a:srgbClr val="000000"/>
                </a:solidFill>
                <a:latin typeface="Open Sauce"/>
                <a:ea typeface="Open Sauce"/>
                <a:cs typeface="Open Sauce"/>
                <a:sym typeface="Open Sauce"/>
              </a:rPr>
              <a:t>Fraud is not evenly distributed. It is highly concentrated in </a:t>
            </a:r>
            <a:r>
              <a:rPr lang="en-US" sz="2400" b="1">
                <a:solidFill>
                  <a:srgbClr val="000000"/>
                </a:solidFill>
                <a:latin typeface="Open Sauce Bold"/>
                <a:ea typeface="Open Sauce Bold"/>
                <a:cs typeface="Open Sauce Bold"/>
                <a:sym typeface="Open Sauce Bold"/>
              </a:rPr>
              <a:t>TRANSFER</a:t>
            </a:r>
            <a:r>
              <a:rPr lang="en-US" sz="2400">
                <a:solidFill>
                  <a:srgbClr val="000000"/>
                </a:solidFill>
                <a:latin typeface="Open Sauce"/>
                <a:ea typeface="Open Sauce"/>
                <a:cs typeface="Open Sauce"/>
                <a:sym typeface="Open Sauce"/>
              </a:rPr>
              <a:t> and </a:t>
            </a:r>
            <a:r>
              <a:rPr lang="en-US" sz="2400" b="1">
                <a:solidFill>
                  <a:srgbClr val="000000"/>
                </a:solidFill>
                <a:latin typeface="Open Sauce Bold"/>
                <a:ea typeface="Open Sauce Bold"/>
                <a:cs typeface="Open Sauce Bold"/>
                <a:sym typeface="Open Sauce Bold"/>
              </a:rPr>
              <a:t>CASH_OUT</a:t>
            </a:r>
            <a:r>
              <a:rPr lang="en-US" sz="2400">
                <a:solidFill>
                  <a:srgbClr val="000000"/>
                </a:solidFill>
                <a:latin typeface="Open Sauce"/>
                <a:ea typeface="Open Sauce"/>
                <a:cs typeface="Open Sauce"/>
                <a:sym typeface="Open Sauce"/>
              </a:rPr>
              <a:t> transactions, where funds are moved out of an account.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4334422" y="2402314"/>
            <a:ext cx="9619157" cy="6855986"/>
          </a:xfrm>
          <a:custGeom>
            <a:avLst/>
            <a:gdLst/>
            <a:ahLst/>
            <a:cxnLst/>
            <a:rect l="l" t="t" r="r" b="b"/>
            <a:pathLst>
              <a:path w="9619157" h="6855986">
                <a:moveTo>
                  <a:pt x="0" y="0"/>
                </a:moveTo>
                <a:lnTo>
                  <a:pt x="9619156" y="0"/>
                </a:lnTo>
                <a:lnTo>
                  <a:pt x="9619156" y="6855986"/>
                </a:lnTo>
                <a:lnTo>
                  <a:pt x="0" y="6855986"/>
                </a:lnTo>
                <a:lnTo>
                  <a:pt x="0" y="0"/>
                </a:lnTo>
                <a:close/>
              </a:path>
            </a:pathLst>
          </a:custGeom>
          <a:blipFill>
            <a:blip r:embed="rId3"/>
            <a:stretch>
              <a:fillRect/>
            </a:stretch>
          </a:blipFill>
        </p:spPr>
      </p:sp>
      <p:sp>
        <p:nvSpPr>
          <p:cNvPr id="5" name="TextBox 5"/>
          <p:cNvSpPr txBox="1"/>
          <p:nvPr/>
        </p:nvSpPr>
        <p:spPr>
          <a:xfrm>
            <a:off x="1194054" y="1392029"/>
            <a:ext cx="15927548" cy="646429"/>
          </a:xfrm>
          <a:prstGeom prst="rect">
            <a:avLst/>
          </a:prstGeom>
        </p:spPr>
        <p:txBody>
          <a:bodyPr lIns="0" tIns="0" rIns="0" bIns="0" rtlCol="0" anchor="t">
            <a:spAutoFit/>
          </a:bodyPr>
          <a:lstStyle/>
          <a:p>
            <a:pPr algn="l">
              <a:lnSpc>
                <a:spcPts val="5320"/>
              </a:lnSpc>
            </a:pPr>
            <a:r>
              <a:rPr lang="en-US" sz="3800" b="1">
                <a:solidFill>
                  <a:srgbClr val="000000"/>
                </a:solidFill>
                <a:latin typeface="Canva Sans Bold"/>
                <a:ea typeface="Canva Sans Bold"/>
                <a:cs typeface="Canva Sans Bold"/>
                <a:sym typeface="Canva Sans Bold"/>
              </a:rPr>
              <a:t>(2) Graph Construction &amp; Feature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467379"/>
            <a:ext cx="16065246" cy="2887980"/>
          </a:xfrm>
          <a:prstGeom prst="rect">
            <a:avLst/>
          </a:prstGeom>
        </p:spPr>
        <p:txBody>
          <a:bodyPr lIns="0" tIns="0" rIns="0" bIns="0" rtlCol="0" anchor="t">
            <a:spAutoFit/>
          </a:bodyPr>
          <a:lstStyle/>
          <a:p>
            <a:pPr marL="518160" lvl="1" indent="-259080" algn="l">
              <a:lnSpc>
                <a:spcPts val="3840"/>
              </a:lnSpc>
              <a:spcBef>
                <a:spcPct val="0"/>
              </a:spcBef>
              <a:buFont typeface="Arial"/>
              <a:buChar char="•"/>
            </a:pPr>
            <a:r>
              <a:rPr lang="en-US" sz="2400" b="1">
                <a:solidFill>
                  <a:srgbClr val="000000"/>
                </a:solidFill>
                <a:latin typeface="Open Sauce Bold"/>
                <a:ea typeface="Open Sauce Bold"/>
                <a:cs typeface="Open Sauce Bold"/>
                <a:sym typeface="Open Sauce Bold"/>
              </a:rPr>
              <a:t>Heterogeneous Structure:</a:t>
            </a:r>
            <a:r>
              <a:rPr lang="en-US" sz="2400">
                <a:solidFill>
                  <a:srgbClr val="000000"/>
                </a:solidFill>
                <a:latin typeface="Open Sauce"/>
                <a:ea typeface="Open Sauce"/>
                <a:cs typeface="Open Sauce"/>
                <a:sym typeface="Open Sauce"/>
              </a:rPr>
              <a:t> Shows different entity types (customers, merchants, banks) connected by transactions.</a:t>
            </a:r>
          </a:p>
          <a:p>
            <a:pPr marL="518160" lvl="1" indent="-259080" algn="l">
              <a:lnSpc>
                <a:spcPts val="3840"/>
              </a:lnSpc>
              <a:spcBef>
                <a:spcPct val="0"/>
              </a:spcBef>
              <a:buFont typeface="Arial"/>
              <a:buChar char="•"/>
            </a:pPr>
            <a:r>
              <a:rPr lang="en-US" sz="2400" b="1">
                <a:solidFill>
                  <a:srgbClr val="000000"/>
                </a:solidFill>
                <a:latin typeface="Open Sauce Bold"/>
                <a:ea typeface="Open Sauce Bold"/>
                <a:cs typeface="Open Sauce Bold"/>
                <a:sym typeface="Open Sauce Bold"/>
              </a:rPr>
              <a:t>Clear Fraud Visualization: </a:t>
            </a:r>
            <a:r>
              <a:rPr lang="en-US" sz="2400">
                <a:solidFill>
                  <a:srgbClr val="000000"/>
                </a:solidFill>
                <a:latin typeface="Open Sauce"/>
                <a:ea typeface="Open Sauce"/>
                <a:cs typeface="Open Sauce"/>
                <a:sym typeface="Open Sauce"/>
              </a:rPr>
              <a:t>Red edges highlight fraudulent transactions and their distribution.</a:t>
            </a:r>
          </a:p>
          <a:p>
            <a:pPr marL="518160" lvl="1" indent="-259080" algn="l">
              <a:lnSpc>
                <a:spcPts val="3840"/>
              </a:lnSpc>
              <a:spcBef>
                <a:spcPct val="0"/>
              </a:spcBef>
              <a:buFont typeface="Arial"/>
              <a:buChar char="•"/>
            </a:pPr>
            <a:r>
              <a:rPr lang="en-US" sz="2400" b="1">
                <a:solidFill>
                  <a:srgbClr val="000000"/>
                </a:solidFill>
                <a:latin typeface="Open Sauce Bold"/>
                <a:ea typeface="Open Sauce Bold"/>
                <a:cs typeface="Open Sauce Bold"/>
                <a:sym typeface="Open Sauce Bold"/>
              </a:rPr>
              <a:t>Pattern Recognition:</a:t>
            </a:r>
            <a:r>
              <a:rPr lang="en-US" sz="2400">
                <a:solidFill>
                  <a:srgbClr val="000000"/>
                </a:solidFill>
                <a:latin typeface="Open Sauce"/>
                <a:ea typeface="Open Sauce"/>
                <a:cs typeface="Open Sauce"/>
                <a:sym typeface="Open Sauce"/>
              </a:rPr>
              <a:t> Reveals connection clusters that indicate coordinated fraud activities.</a:t>
            </a:r>
          </a:p>
          <a:p>
            <a:pPr marL="518160" lvl="1" indent="-259080" algn="l">
              <a:lnSpc>
                <a:spcPts val="3840"/>
              </a:lnSpc>
              <a:spcBef>
                <a:spcPct val="0"/>
              </a:spcBef>
              <a:buFont typeface="Arial"/>
              <a:buChar char="•"/>
            </a:pPr>
            <a:r>
              <a:rPr lang="en-US" sz="2400" b="1">
                <a:solidFill>
                  <a:srgbClr val="000000"/>
                </a:solidFill>
                <a:latin typeface="Open Sauce Bold"/>
                <a:ea typeface="Open Sauce Bold"/>
                <a:cs typeface="Open Sauce Bold"/>
                <a:sym typeface="Open Sauce Bold"/>
              </a:rPr>
              <a:t>Relational Advantage:</a:t>
            </a:r>
            <a:r>
              <a:rPr lang="en-US" sz="2400">
                <a:solidFill>
                  <a:srgbClr val="000000"/>
                </a:solidFill>
                <a:latin typeface="Open Sauce"/>
                <a:ea typeface="Open Sauce"/>
                <a:cs typeface="Open Sauce"/>
                <a:sym typeface="Open Sauce"/>
              </a:rPr>
              <a:t> Uncovers complex fraud patterns invisible to traditional analytical methods.</a:t>
            </a:r>
          </a:p>
          <a:p>
            <a:pPr algn="ctr">
              <a:lnSpc>
                <a:spcPts val="3840"/>
              </a:lnSpc>
              <a:spcBef>
                <a:spcPct val="0"/>
              </a:spcBef>
            </a:pPr>
            <a:endParaRPr lang="en-US" sz="2400">
              <a:solidFill>
                <a:srgbClr val="000000"/>
              </a:solidFill>
              <a:latin typeface="Open Sauce"/>
              <a:ea typeface="Open Sauce"/>
              <a:cs typeface="Open Sauce"/>
              <a:sym typeface="Open Sauce"/>
            </a:endParaRPr>
          </a:p>
        </p:txBody>
      </p:sp>
      <p:sp>
        <p:nvSpPr>
          <p:cNvPr id="5" name="TextBox 5"/>
          <p:cNvSpPr txBox="1"/>
          <p:nvPr/>
        </p:nvSpPr>
        <p:spPr>
          <a:xfrm>
            <a:off x="1361464" y="4384743"/>
            <a:ext cx="7837558" cy="3543936"/>
          </a:xfrm>
          <a:prstGeom prst="rect">
            <a:avLst/>
          </a:prstGeom>
        </p:spPr>
        <p:txBody>
          <a:bodyPr lIns="0" tIns="0" rIns="0" bIns="0" rtlCol="0" anchor="t">
            <a:spAutoFit/>
          </a:bodyPr>
          <a:lstStyle/>
          <a:p>
            <a:pPr algn="just">
              <a:lnSpc>
                <a:spcPts val="5119"/>
              </a:lnSpc>
            </a:pPr>
            <a:r>
              <a:rPr lang="en-US" sz="3199" b="1">
                <a:solidFill>
                  <a:srgbClr val="000000"/>
                </a:solidFill>
                <a:latin typeface="Canva Sans Bold"/>
                <a:ea typeface="Canva Sans Bold"/>
                <a:cs typeface="Canva Sans Bold"/>
                <a:sym typeface="Canva Sans Bold"/>
              </a:rPr>
              <a:t>Node Features</a:t>
            </a:r>
          </a:p>
          <a:p>
            <a:pPr algn="just">
              <a:lnSpc>
                <a:spcPts val="3840"/>
              </a:lnSpc>
            </a:pPr>
            <a:r>
              <a:rPr lang="en-US" sz="2400">
                <a:solidFill>
                  <a:srgbClr val="000000"/>
                </a:solidFill>
                <a:latin typeface="Open Sauce"/>
                <a:ea typeface="Open Sauce"/>
                <a:cs typeface="Open Sauce"/>
                <a:sym typeface="Open Sauce"/>
              </a:rPr>
              <a:t>Nodes represent customers, merchants, or banks.</a:t>
            </a:r>
          </a:p>
          <a:p>
            <a:pPr marL="518160" lvl="1" indent="-259080" algn="just">
              <a:lnSpc>
                <a:spcPts val="3840"/>
              </a:lnSpc>
              <a:buFont typeface="Arial"/>
              <a:buChar char="•"/>
            </a:pPr>
            <a:r>
              <a:rPr lang="en-US" sz="2400">
                <a:solidFill>
                  <a:srgbClr val="000000"/>
                </a:solidFill>
                <a:latin typeface="Open Sauce"/>
                <a:ea typeface="Open Sauce"/>
                <a:cs typeface="Open Sauce"/>
                <a:sym typeface="Open Sauce"/>
              </a:rPr>
              <a:t>Node Type (Customer, Merchant, Bank)</a:t>
            </a:r>
          </a:p>
          <a:p>
            <a:pPr marL="518160" lvl="1" indent="-259080" algn="just">
              <a:lnSpc>
                <a:spcPts val="3840"/>
              </a:lnSpc>
              <a:buFont typeface="Arial"/>
              <a:buChar char="•"/>
            </a:pPr>
            <a:r>
              <a:rPr lang="en-US" sz="2400">
                <a:solidFill>
                  <a:srgbClr val="000000"/>
                </a:solidFill>
                <a:latin typeface="Open Sauce"/>
                <a:ea typeface="Open Sauce"/>
                <a:cs typeface="Open Sauce"/>
                <a:sym typeface="Open Sauce"/>
              </a:rPr>
              <a:t>Avgerage Amount Sent</a:t>
            </a:r>
          </a:p>
          <a:p>
            <a:pPr marL="518160" lvl="1" indent="-259080" algn="just">
              <a:lnSpc>
                <a:spcPts val="3840"/>
              </a:lnSpc>
              <a:buFont typeface="Arial"/>
              <a:buChar char="•"/>
            </a:pPr>
            <a:r>
              <a:rPr lang="en-US" sz="2400">
                <a:solidFill>
                  <a:srgbClr val="000000"/>
                </a:solidFill>
                <a:latin typeface="Open Sauce"/>
                <a:ea typeface="Open Sauce"/>
                <a:cs typeface="Open Sauce"/>
                <a:sym typeface="Open Sauce"/>
              </a:rPr>
              <a:t>Avgerage Amount Received</a:t>
            </a:r>
          </a:p>
          <a:p>
            <a:pPr marL="518160" lvl="1" indent="-259080" algn="just">
              <a:lnSpc>
                <a:spcPts val="3840"/>
              </a:lnSpc>
              <a:buFont typeface="Arial"/>
              <a:buChar char="•"/>
            </a:pPr>
            <a:r>
              <a:rPr lang="en-US" sz="2400">
                <a:solidFill>
                  <a:srgbClr val="000000"/>
                </a:solidFill>
                <a:latin typeface="Open Sauce"/>
                <a:ea typeface="Open Sauce"/>
                <a:cs typeface="Open Sauce"/>
                <a:sym typeface="Open Sauce"/>
              </a:rPr>
              <a:t>Counts of each transaction type</a:t>
            </a:r>
          </a:p>
          <a:p>
            <a:pPr algn="l">
              <a:lnSpc>
                <a:spcPts val="3840"/>
              </a:lnSpc>
              <a:spcBef>
                <a:spcPct val="0"/>
              </a:spcBef>
            </a:pPr>
            <a:endParaRPr lang="en-US" sz="2400">
              <a:solidFill>
                <a:srgbClr val="000000"/>
              </a:solidFill>
              <a:latin typeface="Open Sauce"/>
              <a:ea typeface="Open Sauce"/>
              <a:cs typeface="Open Sauce"/>
              <a:sym typeface="Open Sauce"/>
            </a:endParaRPr>
          </a:p>
        </p:txBody>
      </p:sp>
      <p:sp>
        <p:nvSpPr>
          <p:cNvPr id="6" name="TextBox 6"/>
          <p:cNvSpPr txBox="1"/>
          <p:nvPr/>
        </p:nvSpPr>
        <p:spPr>
          <a:xfrm>
            <a:off x="9589546" y="4384743"/>
            <a:ext cx="7642099" cy="3058161"/>
          </a:xfrm>
          <a:prstGeom prst="rect">
            <a:avLst/>
          </a:prstGeom>
        </p:spPr>
        <p:txBody>
          <a:bodyPr lIns="0" tIns="0" rIns="0" bIns="0" rtlCol="0" anchor="t">
            <a:spAutoFit/>
          </a:bodyPr>
          <a:lstStyle/>
          <a:p>
            <a:pPr algn="l">
              <a:lnSpc>
                <a:spcPts val="5119"/>
              </a:lnSpc>
              <a:spcBef>
                <a:spcPct val="0"/>
              </a:spcBef>
            </a:pPr>
            <a:r>
              <a:rPr lang="en-US" sz="3199" b="1">
                <a:solidFill>
                  <a:srgbClr val="000000"/>
                </a:solidFill>
                <a:latin typeface="Canva Sans Bold"/>
                <a:ea typeface="Canva Sans Bold"/>
                <a:cs typeface="Canva Sans Bold"/>
                <a:sym typeface="Canva Sans Bold"/>
              </a:rPr>
              <a:t>Edge Features</a:t>
            </a:r>
          </a:p>
          <a:p>
            <a:pPr algn="l">
              <a:lnSpc>
                <a:spcPts val="3840"/>
              </a:lnSpc>
              <a:spcBef>
                <a:spcPct val="0"/>
              </a:spcBef>
            </a:pPr>
            <a:r>
              <a:rPr lang="en-US" sz="2400">
                <a:solidFill>
                  <a:srgbClr val="000000"/>
                </a:solidFill>
                <a:latin typeface="Open Sauce"/>
                <a:ea typeface="Open Sauce"/>
                <a:cs typeface="Open Sauce"/>
                <a:sym typeface="Open Sauce"/>
              </a:rPr>
              <a:t>Edges represent transactions between nodes.</a:t>
            </a:r>
          </a:p>
          <a:p>
            <a:pPr marL="518160" lvl="1" indent="-259080" algn="l">
              <a:lnSpc>
                <a:spcPts val="3840"/>
              </a:lnSpc>
              <a:spcBef>
                <a:spcPct val="0"/>
              </a:spcBef>
              <a:buFont typeface="Arial"/>
              <a:buChar char="•"/>
            </a:pPr>
            <a:r>
              <a:rPr lang="en-US" sz="2400">
                <a:solidFill>
                  <a:srgbClr val="000000"/>
                </a:solidFill>
                <a:latin typeface="Open Sauce"/>
                <a:ea typeface="Open Sauce"/>
                <a:cs typeface="Open Sauce"/>
                <a:sym typeface="Open Sauce"/>
              </a:rPr>
              <a:t>Transaction Amount</a:t>
            </a:r>
          </a:p>
          <a:p>
            <a:pPr marL="518160" lvl="1" indent="-259080" algn="l">
              <a:lnSpc>
                <a:spcPts val="3840"/>
              </a:lnSpc>
              <a:spcBef>
                <a:spcPct val="0"/>
              </a:spcBef>
              <a:buFont typeface="Arial"/>
              <a:buChar char="•"/>
            </a:pPr>
            <a:r>
              <a:rPr lang="en-US" sz="2400">
                <a:solidFill>
                  <a:srgbClr val="000000"/>
                </a:solidFill>
                <a:latin typeface="Open Sauce"/>
                <a:ea typeface="Open Sauce"/>
                <a:cs typeface="Open Sauce"/>
                <a:sym typeface="Open Sauce"/>
              </a:rPr>
              <a:t>Time Step</a:t>
            </a:r>
          </a:p>
          <a:p>
            <a:pPr marL="518160" lvl="1" indent="-259080" algn="l">
              <a:lnSpc>
                <a:spcPts val="3840"/>
              </a:lnSpc>
              <a:spcBef>
                <a:spcPct val="0"/>
              </a:spcBef>
              <a:buFont typeface="Arial"/>
              <a:buChar char="•"/>
            </a:pPr>
            <a:r>
              <a:rPr lang="en-US" sz="2400">
                <a:solidFill>
                  <a:srgbClr val="000000"/>
                </a:solidFill>
                <a:latin typeface="Open Sauce"/>
                <a:ea typeface="Open Sauce"/>
                <a:cs typeface="Open Sauce"/>
                <a:sym typeface="Open Sauce"/>
              </a:rPr>
              <a:t>Transaction Type (TRANSFER, CASH_OUT, etc.)</a:t>
            </a:r>
          </a:p>
          <a:p>
            <a:pPr algn="ctr">
              <a:lnSpc>
                <a:spcPts val="3840"/>
              </a:lnSpc>
              <a:spcBef>
                <a:spcPct val="0"/>
              </a:spcBef>
            </a:pPr>
            <a:endParaRPr lang="en-US" sz="2400">
              <a:solidFill>
                <a:srgbClr val="000000"/>
              </a:solidFill>
              <a:latin typeface="Open Sauce"/>
              <a:ea typeface="Open Sauce"/>
              <a:cs typeface="Open Sauce"/>
              <a:sym typeface="Open Sauc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94054" y="1392029"/>
            <a:ext cx="15927548" cy="646429"/>
          </a:xfrm>
          <a:prstGeom prst="rect">
            <a:avLst/>
          </a:prstGeom>
        </p:spPr>
        <p:txBody>
          <a:bodyPr lIns="0" tIns="0" rIns="0" bIns="0" rtlCol="0" anchor="t">
            <a:spAutoFit/>
          </a:bodyPr>
          <a:lstStyle/>
          <a:p>
            <a:pPr algn="l">
              <a:lnSpc>
                <a:spcPts val="5320"/>
              </a:lnSpc>
            </a:pPr>
            <a:r>
              <a:rPr lang="en-US" sz="3800" b="1">
                <a:solidFill>
                  <a:srgbClr val="000000"/>
                </a:solidFill>
                <a:latin typeface="Canva Sans Bold"/>
                <a:ea typeface="Canva Sans Bold"/>
                <a:cs typeface="Canva Sans Bold"/>
                <a:sym typeface="Canva Sans Bold"/>
              </a:rPr>
              <a:t>(3) Handling Class Imbalance</a:t>
            </a:r>
          </a:p>
        </p:txBody>
      </p:sp>
      <mc:AlternateContent xmlns:mc="http://schemas.openxmlformats.org/markup-compatibility/2006">
        <mc:Choice xmlns:a14="http://schemas.microsoft.com/office/drawing/2010/main" Requires="a14">
          <p:sp>
            <p:nvSpPr>
              <p:cNvPr id="5" name="TextBox 5"/>
              <p:cNvSpPr txBox="1"/>
              <p:nvPr/>
            </p:nvSpPr>
            <p:spPr>
              <a:xfrm>
                <a:off x="1194054" y="2460876"/>
                <a:ext cx="15899892" cy="5476051"/>
              </a:xfrm>
              <a:prstGeom prst="rect">
                <a:avLst/>
              </a:prstGeom>
            </p:spPr>
            <p:txBody>
              <a:bodyPr lIns="0" tIns="0" rIns="0" bIns="0" rtlCol="0" anchor="t">
                <a:spAutoFit/>
              </a:bodyPr>
              <a:lstStyle/>
              <a:p>
                <a:pPr algn="l">
                  <a:lnSpc>
                    <a:spcPts val="4479"/>
                  </a:lnSpc>
                </a:pPr>
                <a:r>
                  <a:rPr lang="en-US" sz="3199" b="1" spc="319" dirty="0">
                    <a:solidFill>
                      <a:srgbClr val="000000"/>
                    </a:solidFill>
                    <a:latin typeface="Open Sauce Bold"/>
                    <a:ea typeface="Open Sauce Bold"/>
                    <a:cs typeface="Open Sauce Bold"/>
                    <a:sym typeface="Open Sauce Bold"/>
                  </a:rPr>
                  <a:t>A. Two-Step Data Sampling Strategy:</a:t>
                </a:r>
              </a:p>
              <a:p>
                <a:pPr marL="518155" lvl="1" indent="-259078" algn="l">
                  <a:lnSpc>
                    <a:spcPts val="3359"/>
                  </a:lnSpc>
                  <a:buFont typeface="Arial"/>
                  <a:buChar char="•"/>
                </a:pPr>
                <a:r>
                  <a:rPr lang="en-US" sz="2399" u="sng" spc="239" dirty="0">
                    <a:solidFill>
                      <a:srgbClr val="000000"/>
                    </a:solidFill>
                    <a:latin typeface="Open Sauce"/>
                    <a:ea typeface="Open Sauce"/>
                    <a:cs typeface="Open Sauce"/>
                    <a:sym typeface="Open Sauce"/>
                  </a:rPr>
                  <a:t>Down-sampling</a:t>
                </a:r>
                <a:r>
                  <a:rPr lang="en-US" sz="2399" spc="239" dirty="0">
                    <a:solidFill>
                      <a:srgbClr val="000000"/>
                    </a:solidFill>
                    <a:latin typeface="Open Sauce"/>
                    <a:ea typeface="Open Sauce"/>
                    <a:cs typeface="Open Sauce"/>
                    <a:sym typeface="Open Sauce"/>
                  </a:rPr>
                  <a:t>: Artificially balanced training set by reducing majority class examples</a:t>
                </a:r>
              </a:p>
              <a:p>
                <a:pPr marL="518155" lvl="1" indent="-259078" algn="l">
                  <a:lnSpc>
                    <a:spcPts val="3359"/>
                  </a:lnSpc>
                  <a:buFont typeface="Arial"/>
                  <a:buChar char="•"/>
                </a:pPr>
                <a:r>
                  <a:rPr lang="en-US" sz="2399" u="sng" spc="239" dirty="0">
                    <a:solidFill>
                      <a:srgbClr val="000000"/>
                    </a:solidFill>
                    <a:latin typeface="Open Sauce"/>
                    <a:ea typeface="Open Sauce"/>
                    <a:cs typeface="Open Sauce"/>
                    <a:sym typeface="Open Sauce"/>
                  </a:rPr>
                  <a:t>Upweighting</a:t>
                </a:r>
                <a:r>
                  <a:rPr lang="en-US" sz="2399" b="1" spc="239" dirty="0">
                    <a:solidFill>
                      <a:srgbClr val="000000"/>
                    </a:solidFill>
                    <a:latin typeface="Open Sauce Bold"/>
                    <a:ea typeface="Open Sauce Bold"/>
                    <a:cs typeface="Open Sauce Bold"/>
                    <a:sym typeface="Open Sauce Bold"/>
                  </a:rPr>
                  <a:t>:</a:t>
                </a:r>
                <a:r>
                  <a:rPr lang="en-US" sz="2399" spc="239" dirty="0">
                    <a:solidFill>
                      <a:srgbClr val="000000"/>
                    </a:solidFill>
                    <a:latin typeface="Open Sauce"/>
                    <a:ea typeface="Open Sauce"/>
                    <a:cs typeface="Open Sauce"/>
                    <a:sym typeface="Open Sauce"/>
                  </a:rPr>
                  <a:t> Compensated for predictive bias by increasing loss contribution of down-sampled class using weight factor:</a:t>
                </a:r>
              </a:p>
              <a:p>
                <a:pPr marL="518155" lvl="1" indent="-259078" algn="l">
                  <a:lnSpc>
                    <a:spcPts val="3359"/>
                  </a:lnSpc>
                  <a:buFont typeface="Arial"/>
                  <a:buChar char="•"/>
                </a:pPr>
                <a14:m>
                  <m:oMath xmlns:m="http://schemas.openxmlformats.org/officeDocument/2006/math">
                    <m:sSub>
                      <m:sSubPr>
                        <m:ctrlPr>
                          <a:rPr lang="en-US" sz="2399" b="0" i="1" spc="239" dirty="0" smtClean="0">
                            <a:solidFill>
                              <a:srgbClr val="000000"/>
                            </a:solidFill>
                            <a:latin typeface="Cambria Math" panose="02040503050406030204" pitchFamily="18" charset="0"/>
                            <a:ea typeface="Open Sauce"/>
                            <a:cs typeface="Open Sauce"/>
                            <a:sym typeface="Open Sauce"/>
                          </a:rPr>
                        </m:ctrlPr>
                      </m:sSubPr>
                      <m:e>
                        <m:r>
                          <a:rPr lang="en-US" sz="2399" i="1" spc="239" dirty="0" smtClean="0">
                            <a:solidFill>
                              <a:srgbClr val="000000"/>
                            </a:solidFill>
                            <a:latin typeface="Cambria Math" panose="02040503050406030204" pitchFamily="18" charset="0"/>
                            <a:ea typeface="Open Sauce"/>
                            <a:cs typeface="Open Sauce"/>
                            <a:sym typeface="Open Sauce"/>
                          </a:rPr>
                          <m:t>𝑤</m:t>
                        </m:r>
                      </m:e>
                      <m:sub>
                        <m:r>
                          <a:rPr lang="en-US" sz="2399" b="0" i="1" spc="239" dirty="0" smtClean="0">
                            <a:solidFill>
                              <a:srgbClr val="000000"/>
                            </a:solidFill>
                            <a:latin typeface="Cambria Math" panose="02040503050406030204" pitchFamily="18" charset="0"/>
                            <a:ea typeface="Open Sauce"/>
                            <a:cs typeface="Open Sauce"/>
                            <a:sym typeface="Open Sauce"/>
                          </a:rPr>
                          <m:t>𝑝𝑜𝑠</m:t>
                        </m:r>
                      </m:sub>
                    </m:sSub>
                    <m:r>
                      <a:rPr lang="en-US" sz="2399" i="1" spc="239" dirty="0">
                        <a:solidFill>
                          <a:srgbClr val="000000"/>
                        </a:solidFill>
                        <a:latin typeface="Cambria Math" panose="02040503050406030204" pitchFamily="18" charset="0"/>
                        <a:ea typeface="Open Sauce"/>
                        <a:cs typeface="Open Sauce"/>
                        <a:sym typeface="Open Sauce"/>
                      </a:rPr>
                      <m:t>= </m:t>
                    </m:r>
                    <m:sSub>
                      <m:sSubPr>
                        <m:ctrlPr>
                          <a:rPr lang="en-US" sz="2399" b="0" i="1" spc="239" dirty="0" smtClean="0">
                            <a:solidFill>
                              <a:srgbClr val="000000"/>
                            </a:solidFill>
                            <a:latin typeface="Cambria Math" panose="02040503050406030204" pitchFamily="18" charset="0"/>
                            <a:ea typeface="Open Sauce"/>
                            <a:cs typeface="Open Sauce"/>
                            <a:sym typeface="Open Sauce"/>
                          </a:rPr>
                        </m:ctrlPr>
                      </m:sSubPr>
                      <m:e>
                        <m:r>
                          <a:rPr lang="en-US" sz="2399" i="1" spc="239" dirty="0" err="1">
                            <a:solidFill>
                              <a:srgbClr val="000000"/>
                            </a:solidFill>
                            <a:latin typeface="Cambria Math" panose="02040503050406030204" pitchFamily="18" charset="0"/>
                            <a:ea typeface="Open Sauce"/>
                            <a:cs typeface="Open Sauce"/>
                            <a:sym typeface="Open Sauce"/>
                          </a:rPr>
                          <m:t>𝑁</m:t>
                        </m:r>
                      </m:e>
                      <m:sub>
                        <m:r>
                          <a:rPr lang="en-US" sz="2399" b="0" i="1" spc="239" dirty="0" smtClean="0">
                            <a:solidFill>
                              <a:srgbClr val="000000"/>
                            </a:solidFill>
                            <a:latin typeface="Cambria Math" panose="02040503050406030204" pitchFamily="18" charset="0"/>
                            <a:ea typeface="Open Sauce"/>
                            <a:cs typeface="Open Sauce"/>
                            <a:sym typeface="Open Sauce"/>
                          </a:rPr>
                          <m:t>𝑙𝑒𝑔𝑖𝑡𝑖𝑚𝑎𝑡𝑒</m:t>
                        </m:r>
                      </m:sub>
                    </m:sSub>
                    <m:r>
                      <a:rPr lang="en-US" sz="2399" i="1" spc="239" dirty="0">
                        <a:solidFill>
                          <a:srgbClr val="000000"/>
                        </a:solidFill>
                        <a:latin typeface="Cambria Math" panose="02040503050406030204" pitchFamily="18" charset="0"/>
                        <a:ea typeface="Open Sauce"/>
                        <a:cs typeface="Open Sauce"/>
                        <a:sym typeface="Open Sauce"/>
                      </a:rPr>
                      <m:t>/ (</m:t>
                    </m:r>
                    <m:sSub>
                      <m:sSubPr>
                        <m:ctrlPr>
                          <a:rPr lang="en-US" sz="2399" b="0" i="1" spc="239" dirty="0" smtClean="0">
                            <a:solidFill>
                              <a:srgbClr val="000000"/>
                            </a:solidFill>
                            <a:latin typeface="Cambria Math" panose="02040503050406030204" pitchFamily="18" charset="0"/>
                            <a:ea typeface="Open Sauce"/>
                            <a:cs typeface="Open Sauce"/>
                            <a:sym typeface="Open Sauce"/>
                          </a:rPr>
                        </m:ctrlPr>
                      </m:sSubPr>
                      <m:e>
                        <m:r>
                          <a:rPr lang="en-US" sz="2399" i="1" spc="239" dirty="0" err="1">
                            <a:solidFill>
                              <a:srgbClr val="000000"/>
                            </a:solidFill>
                            <a:latin typeface="Cambria Math" panose="02040503050406030204" pitchFamily="18" charset="0"/>
                            <a:ea typeface="Open Sauce"/>
                            <a:cs typeface="Open Sauce"/>
                            <a:sym typeface="Open Sauce"/>
                          </a:rPr>
                          <m:t>𝑁</m:t>
                        </m:r>
                      </m:e>
                      <m:sub>
                        <m:r>
                          <a:rPr lang="en-US" sz="2399" b="0" i="1" spc="239" dirty="0" smtClean="0">
                            <a:solidFill>
                              <a:srgbClr val="000000"/>
                            </a:solidFill>
                            <a:latin typeface="Cambria Math" panose="02040503050406030204" pitchFamily="18" charset="0"/>
                            <a:ea typeface="Open Sauce"/>
                            <a:cs typeface="Open Sauce"/>
                            <a:sym typeface="Open Sauce"/>
                          </a:rPr>
                          <m:t>𝑓𝑟𝑎𝑢𝑑𝑢𝑙𝑒𝑛𝑡</m:t>
                        </m:r>
                      </m:sub>
                    </m:sSub>
                    <m:r>
                      <a:rPr lang="en-US" sz="2399" i="1" spc="239" dirty="0">
                        <a:solidFill>
                          <a:srgbClr val="000000"/>
                        </a:solidFill>
                        <a:latin typeface="Cambria Math" panose="02040503050406030204" pitchFamily="18" charset="0"/>
                        <a:ea typeface="Open Sauce"/>
                        <a:cs typeface="Open Sauce"/>
                        <a:sym typeface="Open Sauce"/>
                      </a:rPr>
                      <m:t>· </m:t>
                    </m:r>
                    <m:sSub>
                      <m:sSubPr>
                        <m:ctrlPr>
                          <a:rPr lang="en-US" sz="2399" b="0" i="1" spc="239" dirty="0" smtClean="0">
                            <a:solidFill>
                              <a:srgbClr val="000000"/>
                            </a:solidFill>
                            <a:latin typeface="Cambria Math" panose="02040503050406030204" pitchFamily="18" charset="0"/>
                            <a:ea typeface="Open Sauce"/>
                            <a:cs typeface="Open Sauce"/>
                            <a:sym typeface="Open Sauce"/>
                          </a:rPr>
                        </m:ctrlPr>
                      </m:sSubPr>
                      <m:e>
                        <m:r>
                          <a:rPr lang="en-US" sz="2399" i="1" spc="239" dirty="0" err="1">
                            <a:solidFill>
                              <a:srgbClr val="000000"/>
                            </a:solidFill>
                            <a:latin typeface="Cambria Math" panose="02040503050406030204" pitchFamily="18" charset="0"/>
                            <a:ea typeface="Open Sauce"/>
                            <a:cs typeface="Open Sauce"/>
                            <a:sym typeface="Open Sauce"/>
                          </a:rPr>
                          <m:t>𝑤</m:t>
                        </m:r>
                      </m:e>
                      <m:sub>
                        <m:r>
                          <a:rPr lang="en-US" sz="2399" b="0" i="1" spc="239" dirty="0" smtClean="0">
                            <a:solidFill>
                              <a:srgbClr val="000000"/>
                            </a:solidFill>
                            <a:latin typeface="Cambria Math" panose="02040503050406030204" pitchFamily="18" charset="0"/>
                            <a:ea typeface="Open Sauce"/>
                            <a:cs typeface="Open Sauce"/>
                            <a:sym typeface="Open Sauce"/>
                          </a:rPr>
                          <m:t>𝑑𝑜𝑤𝑛𝑠𝑎𝑚𝑝𝑙𝑒</m:t>
                        </m:r>
                      </m:sub>
                    </m:sSub>
                    <m:r>
                      <a:rPr lang="en-US" sz="2399" i="1" spc="239" dirty="0">
                        <a:solidFill>
                          <a:srgbClr val="000000"/>
                        </a:solidFill>
                        <a:latin typeface="Cambria Math" panose="02040503050406030204" pitchFamily="18" charset="0"/>
                        <a:ea typeface="Open Sauce"/>
                        <a:cs typeface="Open Sauce"/>
                        <a:sym typeface="Open Sauce"/>
                      </a:rPr>
                      <m:t>)</m:t>
                    </m:r>
                  </m:oMath>
                </a14:m>
              </a:p>
              <a:p>
                <a:pPr algn="l">
                  <a:lnSpc>
                    <a:spcPts val="3359"/>
                  </a:lnSpc>
                </a:pPr>
                <a:endParaRPr lang="en-US" sz="2399" spc="239" dirty="0">
                  <a:solidFill>
                    <a:srgbClr val="000000"/>
                  </a:solidFill>
                  <a:latin typeface="Open Sauce"/>
                  <a:ea typeface="Open Sauce"/>
                  <a:cs typeface="Open Sauce"/>
                  <a:sym typeface="Open Sauce"/>
                </a:endParaRPr>
              </a:p>
              <a:p>
                <a:pPr algn="l">
                  <a:lnSpc>
                    <a:spcPts val="4479"/>
                  </a:lnSpc>
                </a:pPr>
                <a:r>
                  <a:rPr lang="en-US" sz="3199" b="1" spc="319" dirty="0">
                    <a:solidFill>
                      <a:srgbClr val="000000"/>
                    </a:solidFill>
                    <a:latin typeface="Open Sauce Bold"/>
                    <a:ea typeface="Open Sauce Bold"/>
                    <a:cs typeface="Open Sauce Bold"/>
                    <a:sym typeface="Open Sauce Bold"/>
                  </a:rPr>
                  <a:t>B.</a:t>
                </a:r>
                <a:r>
                  <a:rPr lang="en-US" sz="3199" spc="319" dirty="0">
                    <a:solidFill>
                      <a:srgbClr val="000000"/>
                    </a:solidFill>
                    <a:latin typeface="Open Sauce"/>
                    <a:ea typeface="Open Sauce"/>
                    <a:cs typeface="Open Sauce"/>
                    <a:sym typeface="Open Sauce"/>
                  </a:rPr>
                  <a:t> </a:t>
                </a:r>
                <a:r>
                  <a:rPr lang="en-US" sz="3199" b="1" spc="319" dirty="0">
                    <a:solidFill>
                      <a:srgbClr val="000000"/>
                    </a:solidFill>
                    <a:latin typeface="Open Sauce Bold"/>
                    <a:ea typeface="Open Sauce Bold"/>
                    <a:cs typeface="Open Sauce Bold"/>
                    <a:sym typeface="Open Sauce Bold"/>
                  </a:rPr>
                  <a:t>Graph-Aware SMOTE Oversampling:</a:t>
                </a:r>
              </a:p>
              <a:p>
                <a:pPr marL="518155" lvl="1" indent="-259078" algn="l">
                  <a:lnSpc>
                    <a:spcPts val="3359"/>
                  </a:lnSpc>
                  <a:buFont typeface="Arial"/>
                  <a:buChar char="•"/>
                </a:pPr>
                <a:r>
                  <a:rPr lang="en-US" sz="2399" spc="239" dirty="0">
                    <a:solidFill>
                      <a:srgbClr val="000000"/>
                    </a:solidFill>
                    <a:latin typeface="Open Sauce"/>
                    <a:ea typeface="Open Sauce"/>
                    <a:cs typeface="Open Sauce"/>
                    <a:sym typeface="Open Sauce"/>
                  </a:rPr>
                  <a:t>Duplicated existing fraudulent transaction edges</a:t>
                </a:r>
              </a:p>
              <a:p>
                <a:pPr marL="518155" lvl="1" indent="-259078" algn="l">
                  <a:lnSpc>
                    <a:spcPts val="3359"/>
                  </a:lnSpc>
                  <a:buFont typeface="Arial"/>
                  <a:buChar char="•"/>
                </a:pPr>
                <a:r>
                  <a:rPr lang="en-US" sz="2399" spc="239" dirty="0">
                    <a:solidFill>
                      <a:srgbClr val="000000"/>
                    </a:solidFill>
                    <a:latin typeface="Open Sauce"/>
                    <a:ea typeface="Open Sauce"/>
                    <a:cs typeface="Open Sauce"/>
                    <a:sym typeface="Open Sauce"/>
                  </a:rPr>
                  <a:t>Injected Gaussian noise into feature vectors of synthetic edges</a:t>
                </a:r>
              </a:p>
              <a:p>
                <a:pPr marL="518155" lvl="1" indent="-259078" algn="l">
                  <a:lnSpc>
                    <a:spcPts val="3359"/>
                  </a:lnSpc>
                  <a:buFont typeface="Arial"/>
                  <a:buChar char="•"/>
                </a:pPr>
                <a:r>
                  <a:rPr lang="en-US" sz="2399" spc="239" dirty="0">
                    <a:solidFill>
                      <a:srgbClr val="000000"/>
                    </a:solidFill>
                    <a:latin typeface="Open Sauce"/>
                    <a:ea typeface="Open Sauce"/>
                    <a:cs typeface="Open Sauce"/>
                    <a:sym typeface="Open Sauce"/>
                  </a:rPr>
                  <a:t>Achieved predefined target fraud ratio while preserving original validation/test distributions</a:t>
                </a:r>
              </a:p>
              <a:p>
                <a:pPr algn="l">
                  <a:lnSpc>
                    <a:spcPts val="3359"/>
                  </a:lnSpc>
                  <a:spcBef>
                    <a:spcPct val="0"/>
                  </a:spcBef>
                </a:pPr>
                <a:endParaRPr lang="en-US" sz="2399" spc="239" dirty="0">
                  <a:solidFill>
                    <a:srgbClr val="000000"/>
                  </a:solidFill>
                  <a:latin typeface="Open Sauce"/>
                  <a:ea typeface="Open Sauce"/>
                  <a:cs typeface="Open Sauce"/>
                  <a:sym typeface="Open Sauce"/>
                </a:endParaRPr>
              </a:p>
            </p:txBody>
          </p:sp>
        </mc:Choice>
        <mc:Fallback>
          <p:sp>
            <p:nvSpPr>
              <p:cNvPr id="5" name="TextBox 5"/>
              <p:cNvSpPr txBox="1">
                <a:spLocks noRot="1" noChangeAspect="1" noMove="1" noResize="1" noEditPoints="1" noAdjustHandles="1" noChangeArrowheads="1" noChangeShapeType="1" noTextEdit="1"/>
              </p:cNvSpPr>
              <p:nvPr/>
            </p:nvSpPr>
            <p:spPr>
              <a:xfrm>
                <a:off x="1194054" y="2460876"/>
                <a:ext cx="15899892" cy="5476051"/>
              </a:xfrm>
              <a:prstGeom prst="rect">
                <a:avLst/>
              </a:prstGeom>
              <a:blipFill>
                <a:blip r:embed="rId3"/>
                <a:stretch>
                  <a:fillRect l="-1572" t="-1782"/>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mc:AlternateContent xmlns:mc="http://schemas.openxmlformats.org/markup-compatibility/2006">
        <mc:Choice xmlns:a14="http://schemas.microsoft.com/office/drawing/2010/main" Requires="a14">
          <p:sp>
            <p:nvSpPr>
              <p:cNvPr id="4" name="TextBox 4"/>
              <p:cNvSpPr txBox="1"/>
              <p:nvPr/>
            </p:nvSpPr>
            <p:spPr>
              <a:xfrm>
                <a:off x="1028700" y="1389260"/>
                <a:ext cx="15927548" cy="8002383"/>
              </a:xfrm>
              <a:prstGeom prst="rect">
                <a:avLst/>
              </a:prstGeom>
            </p:spPr>
            <p:txBody>
              <a:bodyPr lIns="0" tIns="0" rIns="0" bIns="0" rtlCol="0" anchor="t">
                <a:spAutoFit/>
              </a:bodyPr>
              <a:lstStyle/>
              <a:p>
                <a:pPr algn="l">
                  <a:lnSpc>
                    <a:spcPts val="4480"/>
                  </a:lnSpc>
                </a:pPr>
                <a:r>
                  <a:rPr lang="en-US" sz="3200" b="1" spc="320" dirty="0">
                    <a:solidFill>
                      <a:srgbClr val="000000"/>
                    </a:solidFill>
                    <a:latin typeface="Open Sauce Bold"/>
                    <a:ea typeface="Open Sauce Bold"/>
                    <a:cs typeface="Open Sauce Bold"/>
                    <a:sym typeface="Open Sauce Bold"/>
                  </a:rPr>
                  <a:t>C. Hybrid Loss Function Design:</a:t>
                </a:r>
              </a:p>
              <a:p>
                <a:pPr marL="518160" lvl="1" indent="-259080" algn="l">
                  <a:lnSpc>
                    <a:spcPts val="3359"/>
                  </a:lnSpc>
                  <a:buFont typeface="Arial"/>
                  <a:buChar char="•"/>
                </a:pPr>
                <a14:m>
                  <m:oMath xmlns:m="http://schemas.openxmlformats.org/officeDocument/2006/math">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smtClean="0">
                            <a:solidFill>
                              <a:srgbClr val="000000"/>
                            </a:solidFill>
                            <a:latin typeface="Cambria Math" panose="02040503050406030204" pitchFamily="18" charset="0"/>
                            <a:ea typeface="Open Sauce"/>
                            <a:cs typeface="Open Sauce"/>
                            <a:sym typeface="Open Sauce"/>
                          </a:rPr>
                          <m:t>ℒ</m:t>
                        </m:r>
                      </m:e>
                      <m:sub>
                        <m:r>
                          <a:rPr lang="en-US" sz="2399" b="0" i="1" spc="240" dirty="0" smtClean="0">
                            <a:solidFill>
                              <a:srgbClr val="000000"/>
                            </a:solidFill>
                            <a:latin typeface="Cambria Math" panose="02040503050406030204" pitchFamily="18" charset="0"/>
                            <a:ea typeface="Open Sauce"/>
                            <a:cs typeface="Open Sauce"/>
                            <a:sym typeface="Open Sauce"/>
                          </a:rPr>
                          <m:t>𝑡𝑜𝑡𝑎𝑙</m:t>
                        </m:r>
                      </m:sub>
                    </m:sSub>
                    <m:r>
                      <a:rPr lang="en-US" sz="2399" i="1" spc="240" dirty="0">
                        <a:solidFill>
                          <a:srgbClr val="000000"/>
                        </a:solidFill>
                        <a:latin typeface="Cambria Math" panose="02040503050406030204" pitchFamily="18" charset="0"/>
                        <a:ea typeface="Open Sauce"/>
                        <a:cs typeface="Open Sauce"/>
                        <a:sym typeface="Open Sauce"/>
                      </a:rPr>
                      <m:t>= </m:t>
                    </m:r>
                    <m:r>
                      <a:rPr lang="en-US" sz="2399" i="1" spc="240" dirty="0" smtClean="0">
                        <a:solidFill>
                          <a:srgbClr val="000000"/>
                        </a:solidFill>
                        <a:latin typeface="Cambria Math" panose="02040503050406030204" pitchFamily="18" charset="0"/>
                        <a:ea typeface="Open Sauce"/>
                        <a:cs typeface="Open Sauce"/>
                        <a:sym typeface="Open Sauce"/>
                      </a:rPr>
                      <m:t>0.7 · </m:t>
                    </m:r>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err="1" smtClean="0">
                            <a:solidFill>
                              <a:srgbClr val="000000"/>
                            </a:solidFill>
                            <a:latin typeface="Cambria Math" panose="02040503050406030204" pitchFamily="18" charset="0"/>
                            <a:ea typeface="Open Sauce"/>
                            <a:cs typeface="Open Sauce"/>
                            <a:sym typeface="Open Sauce"/>
                          </a:rPr>
                          <m:t>ℒ</m:t>
                        </m:r>
                      </m:e>
                      <m:sub>
                        <m:r>
                          <a:rPr lang="en-US" sz="2399" b="0" i="1" spc="240" dirty="0" smtClean="0">
                            <a:solidFill>
                              <a:srgbClr val="000000"/>
                            </a:solidFill>
                            <a:latin typeface="Cambria Math" panose="02040503050406030204" pitchFamily="18" charset="0"/>
                            <a:ea typeface="Open Sauce"/>
                            <a:cs typeface="Open Sauce"/>
                            <a:sym typeface="Open Sauce"/>
                          </a:rPr>
                          <m:t>𝑓𝑜𝑐𝑎𝑙</m:t>
                        </m:r>
                      </m:sub>
                    </m:sSub>
                    <m:r>
                      <a:rPr lang="en-US" sz="2399" i="1" spc="240" dirty="0" smtClean="0">
                        <a:solidFill>
                          <a:srgbClr val="000000"/>
                        </a:solidFill>
                        <a:latin typeface="Cambria Math" panose="02040503050406030204" pitchFamily="18" charset="0"/>
                        <a:ea typeface="Open Sauce"/>
                        <a:cs typeface="Open Sauce"/>
                        <a:sym typeface="Open Sauce"/>
                      </a:rPr>
                      <m:t>+ 0.3 · </m:t>
                    </m:r>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err="1" smtClean="0">
                            <a:solidFill>
                              <a:srgbClr val="000000"/>
                            </a:solidFill>
                            <a:latin typeface="Cambria Math" panose="02040503050406030204" pitchFamily="18" charset="0"/>
                            <a:ea typeface="Open Sauce"/>
                            <a:cs typeface="Open Sauce"/>
                            <a:sym typeface="Open Sauce"/>
                          </a:rPr>
                          <m:t>ℒ</m:t>
                        </m:r>
                      </m:e>
                      <m:sub>
                        <m:r>
                          <a:rPr lang="en-US" sz="2399" b="0" i="1" spc="240" dirty="0" smtClean="0">
                            <a:solidFill>
                              <a:srgbClr val="000000"/>
                            </a:solidFill>
                            <a:latin typeface="Cambria Math" panose="02040503050406030204" pitchFamily="18" charset="0"/>
                            <a:ea typeface="Open Sauce"/>
                            <a:cs typeface="Open Sauce"/>
                            <a:sym typeface="Open Sauce"/>
                          </a:rPr>
                          <m:t>𝑏𝑐𝑒</m:t>
                        </m:r>
                      </m:sub>
                    </m:sSub>
                  </m:oMath>
                </a14:m>
              </a:p>
              <a:p>
                <a:pPr algn="l">
                  <a:lnSpc>
                    <a:spcPts val="3359"/>
                  </a:lnSpc>
                </a:pPr>
                <a:endParaRPr lang="en-US" sz="2399" spc="240" dirty="0">
                  <a:solidFill>
                    <a:srgbClr val="000000"/>
                  </a:solidFill>
                  <a:latin typeface="Open Sauce"/>
                  <a:ea typeface="Open Sauce"/>
                  <a:cs typeface="Open Sauce"/>
                  <a:sym typeface="Open Sauce"/>
                </a:endParaRPr>
              </a:p>
              <a:p>
                <a:pPr marL="561339" lvl="1" indent="-280669" algn="l">
                  <a:lnSpc>
                    <a:spcPts val="3639"/>
                  </a:lnSpc>
                  <a:buFont typeface="Arial"/>
                  <a:buChar char="•"/>
                </a:pPr>
                <a:r>
                  <a:rPr lang="en-US" sz="2599" b="1" spc="259" dirty="0">
                    <a:solidFill>
                      <a:srgbClr val="000000"/>
                    </a:solidFill>
                    <a:latin typeface="Open Sauce Bold"/>
                    <a:ea typeface="Open Sauce Bold"/>
                    <a:cs typeface="Open Sauce Bold"/>
                    <a:sym typeface="Open Sauce Bold"/>
                  </a:rPr>
                  <a:t>Weighted Binary Cross-Entropy:</a:t>
                </a:r>
              </a:p>
              <a:p>
                <a:pPr marL="518160" lvl="1" indent="-259080" algn="l">
                  <a:lnSpc>
                    <a:spcPts val="3359"/>
                  </a:lnSpc>
                  <a:buFont typeface="Arial"/>
                  <a:buChar char="•"/>
                </a:pPr>
                <a14:m>
                  <m:oMath xmlns:m="http://schemas.openxmlformats.org/officeDocument/2006/math">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smtClean="0">
                            <a:solidFill>
                              <a:srgbClr val="000000"/>
                            </a:solidFill>
                            <a:latin typeface="Cambria Math" panose="02040503050406030204" pitchFamily="18" charset="0"/>
                            <a:ea typeface="Open Sauce"/>
                            <a:cs typeface="Open Sauce"/>
                            <a:sym typeface="Open Sauce"/>
                          </a:rPr>
                          <m:t>ℒ</m:t>
                        </m:r>
                      </m:e>
                      <m:sub>
                        <m:r>
                          <a:rPr lang="en-US" sz="2399" b="0" i="1" spc="240" dirty="0" smtClean="0">
                            <a:solidFill>
                              <a:srgbClr val="000000"/>
                            </a:solidFill>
                            <a:latin typeface="Cambria Math" panose="02040503050406030204" pitchFamily="18" charset="0"/>
                            <a:ea typeface="Open Sauce"/>
                            <a:cs typeface="Open Sauce"/>
                            <a:sym typeface="Open Sauce"/>
                          </a:rPr>
                          <m:t>𝑏𝑐𝑒</m:t>
                        </m:r>
                      </m:sub>
                    </m:sSub>
                    <m:r>
                      <a:rPr lang="en-US" sz="2399" i="1" spc="240" dirty="0">
                        <a:solidFill>
                          <a:srgbClr val="000000"/>
                        </a:solidFill>
                        <a:latin typeface="Cambria Math" panose="02040503050406030204" pitchFamily="18" charset="0"/>
                        <a:ea typeface="Open Sauce"/>
                        <a:cs typeface="Open Sauce"/>
                        <a:sym typeface="Open Sauce"/>
                      </a:rPr>
                      <m:t>= −[</m:t>
                    </m:r>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b="0" i="1" spc="240" dirty="0" smtClean="0">
                            <a:solidFill>
                              <a:srgbClr val="000000"/>
                            </a:solidFill>
                            <a:latin typeface="Cambria Math" panose="02040503050406030204" pitchFamily="18" charset="0"/>
                            <a:ea typeface="Open Sauce"/>
                            <a:cs typeface="Open Sauce"/>
                            <a:sym typeface="Open Sauce"/>
                          </a:rPr>
                          <m:t>𝑤</m:t>
                        </m:r>
                      </m:e>
                      <m:sub>
                        <m:r>
                          <a:rPr lang="en-US" sz="2399" b="0" i="1" spc="240" dirty="0" smtClean="0">
                            <a:solidFill>
                              <a:srgbClr val="000000"/>
                            </a:solidFill>
                            <a:latin typeface="Cambria Math" panose="02040503050406030204" pitchFamily="18" charset="0"/>
                            <a:ea typeface="Open Sauce"/>
                            <a:cs typeface="Open Sauce"/>
                            <a:sym typeface="Open Sauce"/>
                          </a:rPr>
                          <m:t>𝑝𝑜𝑠</m:t>
                        </m:r>
                      </m:sub>
                    </m:sSub>
                    <m:r>
                      <a:rPr lang="en-US" sz="2399" i="1" spc="240" dirty="0">
                        <a:solidFill>
                          <a:srgbClr val="000000"/>
                        </a:solidFill>
                        <a:latin typeface="Cambria Math" panose="02040503050406030204" pitchFamily="18" charset="0"/>
                        <a:ea typeface="Open Sauce"/>
                        <a:cs typeface="Open Sauce"/>
                        <a:sym typeface="Open Sauce"/>
                      </a:rPr>
                      <m:t> · </m:t>
                    </m:r>
                    <m:r>
                      <a:rPr lang="en-US" sz="2399" i="1" spc="240" dirty="0">
                        <a:solidFill>
                          <a:srgbClr val="000000"/>
                        </a:solidFill>
                        <a:latin typeface="Cambria Math" panose="02040503050406030204" pitchFamily="18" charset="0"/>
                        <a:ea typeface="Open Sauce"/>
                        <a:cs typeface="Open Sauce"/>
                        <a:sym typeface="Open Sauce"/>
                      </a:rPr>
                      <m:t>𝑦</m:t>
                    </m:r>
                    <m:r>
                      <a:rPr lang="en-US" sz="2399" i="1" spc="240" dirty="0">
                        <a:solidFill>
                          <a:srgbClr val="000000"/>
                        </a:solidFill>
                        <a:latin typeface="Cambria Math" panose="02040503050406030204" pitchFamily="18" charset="0"/>
                        <a:ea typeface="Open Sauce"/>
                        <a:cs typeface="Open Sauce"/>
                        <a:sym typeface="Open Sauce"/>
                      </a:rPr>
                      <m:t> · </m:t>
                    </m:r>
                    <m:r>
                      <m:rPr>
                        <m:sty m:val="p"/>
                      </m:rPr>
                      <a:rPr lang="en-US" sz="2399" i="1" spc="240" dirty="0">
                        <a:solidFill>
                          <a:srgbClr val="000000"/>
                        </a:solidFill>
                        <a:latin typeface="Cambria Math" panose="02040503050406030204" pitchFamily="18" charset="0"/>
                        <a:ea typeface="Open Sauce"/>
                        <a:cs typeface="Open Sauce"/>
                        <a:sym typeface="Open Sauce"/>
                      </a:rPr>
                      <m:t>log</m:t>
                    </m:r>
                    <m:r>
                      <a:rPr lang="en-US" sz="2399" i="1" spc="240" dirty="0">
                        <a:solidFill>
                          <a:srgbClr val="000000"/>
                        </a:solidFill>
                        <a:latin typeface="Cambria Math" panose="02040503050406030204" pitchFamily="18" charset="0"/>
                        <a:ea typeface="Open Sauce"/>
                        <a:cs typeface="Open Sauce"/>
                        <a:sym typeface="Open Sauce"/>
                      </a:rPr>
                      <m:t>⁡(</m:t>
                    </m:r>
                    <m:r>
                      <a:rPr lang="en-US" sz="2399" i="1" spc="240" dirty="0">
                        <a:solidFill>
                          <a:srgbClr val="000000"/>
                        </a:solidFill>
                        <a:latin typeface="Cambria Math" panose="02040503050406030204" pitchFamily="18" charset="0"/>
                        <a:ea typeface="Open Sauce"/>
                        <a:cs typeface="Open Sauce"/>
                        <a:sym typeface="Open Sauce"/>
                      </a:rPr>
                      <m:t>𝑝</m:t>
                    </m:r>
                    <m:r>
                      <a:rPr lang="en-US" sz="2399" i="1" spc="240" dirty="0">
                        <a:solidFill>
                          <a:srgbClr val="000000"/>
                        </a:solidFill>
                        <a:latin typeface="Cambria Math" panose="02040503050406030204" pitchFamily="18" charset="0"/>
                        <a:ea typeface="Open Sauce"/>
                        <a:cs typeface="Open Sauce"/>
                        <a:sym typeface="Open Sauce"/>
                      </a:rPr>
                      <m:t>) + (1 − </m:t>
                    </m:r>
                    <m:r>
                      <a:rPr lang="en-US" sz="2399" i="1" spc="240" dirty="0">
                        <a:solidFill>
                          <a:srgbClr val="000000"/>
                        </a:solidFill>
                        <a:latin typeface="Cambria Math" panose="02040503050406030204" pitchFamily="18" charset="0"/>
                        <a:ea typeface="Open Sauce"/>
                        <a:cs typeface="Open Sauce"/>
                        <a:sym typeface="Open Sauce"/>
                      </a:rPr>
                      <m:t>𝑦</m:t>
                    </m:r>
                    <m:r>
                      <a:rPr lang="en-US" sz="2399" i="1" spc="240" dirty="0">
                        <a:solidFill>
                          <a:srgbClr val="000000"/>
                        </a:solidFill>
                        <a:latin typeface="Cambria Math" panose="02040503050406030204" pitchFamily="18" charset="0"/>
                        <a:ea typeface="Open Sauce"/>
                        <a:cs typeface="Open Sauce"/>
                        <a:sym typeface="Open Sauce"/>
                      </a:rPr>
                      <m:t>) · </m:t>
                    </m:r>
                    <m:r>
                      <m:rPr>
                        <m:sty m:val="p"/>
                      </m:rPr>
                      <a:rPr lang="en-US" sz="2399" i="1" spc="240" dirty="0">
                        <a:solidFill>
                          <a:srgbClr val="000000"/>
                        </a:solidFill>
                        <a:latin typeface="Cambria Math" panose="02040503050406030204" pitchFamily="18" charset="0"/>
                        <a:ea typeface="Open Sauce"/>
                        <a:cs typeface="Open Sauce"/>
                        <a:sym typeface="Open Sauce"/>
                      </a:rPr>
                      <m:t>log</m:t>
                    </m:r>
                    <m:r>
                      <a:rPr lang="en-US" sz="2399" i="1" spc="240" dirty="0">
                        <a:solidFill>
                          <a:srgbClr val="000000"/>
                        </a:solidFill>
                        <a:latin typeface="Cambria Math" panose="02040503050406030204" pitchFamily="18" charset="0"/>
                        <a:ea typeface="Open Sauce"/>
                        <a:cs typeface="Open Sauce"/>
                        <a:sym typeface="Open Sauce"/>
                      </a:rPr>
                      <m:t>⁡(1 − </m:t>
                    </m:r>
                    <m:r>
                      <a:rPr lang="en-US" sz="2399" i="1" spc="240" dirty="0">
                        <a:solidFill>
                          <a:srgbClr val="000000"/>
                        </a:solidFill>
                        <a:latin typeface="Cambria Math" panose="02040503050406030204" pitchFamily="18" charset="0"/>
                        <a:ea typeface="Open Sauce"/>
                        <a:cs typeface="Open Sauce"/>
                        <a:sym typeface="Open Sauce"/>
                      </a:rPr>
                      <m:t>𝑝</m:t>
                    </m:r>
                    <m:r>
                      <a:rPr lang="en-US" sz="2399" i="1" spc="240" dirty="0">
                        <a:solidFill>
                          <a:srgbClr val="000000"/>
                        </a:solidFill>
                        <a:latin typeface="Cambria Math" panose="02040503050406030204" pitchFamily="18" charset="0"/>
                        <a:ea typeface="Open Sauce"/>
                        <a:cs typeface="Open Sauce"/>
                        <a:sym typeface="Open Sauce"/>
                      </a:rPr>
                      <m:t>)]</m:t>
                    </m:r>
                  </m:oMath>
                </a14:m>
              </a:p>
              <a:p>
                <a:pPr algn="l">
                  <a:lnSpc>
                    <a:spcPts val="3359"/>
                  </a:lnSpc>
                </a:pPr>
                <a:r>
                  <a:rPr lang="en-US" sz="2399" spc="240" dirty="0">
                    <a:solidFill>
                      <a:srgbClr val="000000"/>
                    </a:solidFill>
                    <a:latin typeface="Open Sauce"/>
                    <a:ea typeface="Open Sauce"/>
                    <a:cs typeface="Open Sauce"/>
                    <a:sym typeface="Open Sauce"/>
                  </a:rPr>
                  <a:t>      where:</a:t>
                </a:r>
              </a:p>
              <a:p>
                <a:pPr marL="1036320" lvl="2" indent="-345440" algn="l">
                  <a:lnSpc>
                    <a:spcPts val="3359"/>
                  </a:lnSpc>
                  <a:buFont typeface="Arial"/>
                  <a:buChar char="⚬"/>
                </a:pP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𝑦</m:t>
                    </m:r>
                    <m:r>
                      <a:rPr lang="en-US" sz="2399" i="1" spc="240" dirty="0" smtClean="0">
                        <a:solidFill>
                          <a:srgbClr val="000000"/>
                        </a:solidFill>
                        <a:latin typeface="Cambria Math" panose="02040503050406030204" pitchFamily="18" charset="0"/>
                        <a:ea typeface="Open Sauce"/>
                        <a:cs typeface="Open Sauce"/>
                        <a:sym typeface="Open Sauce"/>
                      </a:rPr>
                      <m:t> ∈ {0, 1} </m:t>
                    </m:r>
                  </m:oMath>
                </a14:m>
                <a:r>
                  <a:rPr lang="en-US" sz="2399" spc="240" dirty="0">
                    <a:solidFill>
                      <a:srgbClr val="000000"/>
                    </a:solidFill>
                    <a:latin typeface="Open Sauce"/>
                    <a:ea typeface="Open Sauce"/>
                    <a:cs typeface="Open Sauce"/>
                    <a:sym typeface="Open Sauce"/>
                  </a:rPr>
                  <a:t>is the true label (0 for legitimate, 1 for fraudulent)</a:t>
                </a:r>
              </a:p>
              <a:p>
                <a:pPr marL="1036320" lvl="2" indent="-345440" algn="l">
                  <a:lnSpc>
                    <a:spcPts val="3359"/>
                  </a:lnSpc>
                  <a:buFont typeface="Arial"/>
                  <a:buChar char="⚬"/>
                </a:pP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𝑝</m:t>
                    </m:r>
                    <m:r>
                      <a:rPr lang="en-US" sz="2399" i="1" spc="240" dirty="0" smtClean="0">
                        <a:solidFill>
                          <a:srgbClr val="000000"/>
                        </a:solidFill>
                        <a:latin typeface="Cambria Math" panose="02040503050406030204" pitchFamily="18" charset="0"/>
                        <a:ea typeface="Open Sauce"/>
                        <a:cs typeface="Open Sauce"/>
                        <a:sym typeface="Open Sauce"/>
                      </a:rPr>
                      <m:t> ∈ [0, 1] </m:t>
                    </m:r>
                  </m:oMath>
                </a14:m>
                <a:r>
                  <a:rPr lang="en-US" sz="2399" spc="240" dirty="0">
                    <a:solidFill>
                      <a:srgbClr val="000000"/>
                    </a:solidFill>
                    <a:latin typeface="Open Sauce"/>
                    <a:ea typeface="Open Sauce"/>
                    <a:cs typeface="Open Sauce"/>
                    <a:sym typeface="Open Sauce"/>
                  </a:rPr>
                  <a:t>is the predicted probability of the positive class (fraud)</a:t>
                </a:r>
              </a:p>
              <a:p>
                <a:pPr marL="1036320" lvl="2" indent="-345440" algn="l">
                  <a:lnSpc>
                    <a:spcPts val="3359"/>
                  </a:lnSpc>
                  <a:buFont typeface="Arial"/>
                  <a:buChar char="⚬"/>
                </a:pP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𝑤</m:t>
                    </m:r>
                    <m:r>
                      <a:rPr lang="en-US" sz="2399" i="1" spc="240" dirty="0" smtClean="0">
                        <a:solidFill>
                          <a:srgbClr val="000000"/>
                        </a:solidFill>
                        <a:latin typeface="Cambria Math" panose="02040503050406030204" pitchFamily="18" charset="0"/>
                        <a:ea typeface="Open Sauce"/>
                        <a:cs typeface="Open Sauce"/>
                        <a:sym typeface="Open Sauce"/>
                      </a:rPr>
                      <m:t>_</m:t>
                    </m:r>
                    <m:r>
                      <a:rPr lang="en-US" sz="2399" i="1" spc="240" dirty="0" smtClean="0">
                        <a:solidFill>
                          <a:srgbClr val="000000"/>
                        </a:solidFill>
                        <a:latin typeface="Cambria Math" panose="02040503050406030204" pitchFamily="18" charset="0"/>
                        <a:ea typeface="Open Sauce"/>
                        <a:cs typeface="Open Sauce"/>
                        <a:sym typeface="Open Sauce"/>
                      </a:rPr>
                      <m:t>𝑝𝑜𝑠</m:t>
                    </m:r>
                    <m:r>
                      <a:rPr lang="en-US" sz="2399" i="1" spc="240" dirty="0">
                        <a:solidFill>
                          <a:srgbClr val="000000"/>
                        </a:solidFill>
                        <a:latin typeface="Cambria Math" panose="02040503050406030204" pitchFamily="18" charset="0"/>
                        <a:ea typeface="Open Sauce"/>
                        <a:cs typeface="Open Sauce"/>
                        <a:sym typeface="Open Sauce"/>
                      </a:rPr>
                      <m:t> </m:t>
                    </m:r>
                  </m:oMath>
                </a14:m>
                <a:r>
                  <a:rPr lang="en-US" sz="2399" spc="240" dirty="0">
                    <a:solidFill>
                      <a:srgbClr val="000000"/>
                    </a:solidFill>
                    <a:latin typeface="Open Sauce"/>
                    <a:ea typeface="Open Sauce"/>
                    <a:cs typeface="Open Sauce"/>
                    <a:sym typeface="Open Sauce"/>
                  </a:rPr>
                  <a:t>is the positive class weight compensating for down-sampling effects</a:t>
                </a:r>
              </a:p>
              <a:p>
                <a:pPr algn="l">
                  <a:lnSpc>
                    <a:spcPts val="3359"/>
                  </a:lnSpc>
                </a:pPr>
                <a:endParaRPr lang="en-US" sz="2399" spc="240" dirty="0">
                  <a:solidFill>
                    <a:srgbClr val="000000"/>
                  </a:solidFill>
                  <a:latin typeface="Open Sauce"/>
                  <a:ea typeface="Open Sauce"/>
                  <a:cs typeface="Open Sauce"/>
                  <a:sym typeface="Open Sauce"/>
                </a:endParaRPr>
              </a:p>
              <a:p>
                <a:pPr marL="561339" lvl="1" indent="-280669" algn="l">
                  <a:lnSpc>
                    <a:spcPts val="3639"/>
                  </a:lnSpc>
                  <a:buFont typeface="Arial"/>
                  <a:buChar char="•"/>
                </a:pPr>
                <a:r>
                  <a:rPr lang="en-US" sz="2599" b="1" spc="259" dirty="0">
                    <a:solidFill>
                      <a:srgbClr val="000000"/>
                    </a:solidFill>
                    <a:latin typeface="Open Sauce Bold"/>
                    <a:ea typeface="Open Sauce Bold"/>
                    <a:cs typeface="Open Sauce Bold"/>
                    <a:sym typeface="Open Sauce Bold"/>
                  </a:rPr>
                  <a:t>Focal Loss for Hard Examples:</a:t>
                </a:r>
              </a:p>
              <a:p>
                <a:pPr marL="518160" lvl="1" indent="-259080" algn="l">
                  <a:lnSpc>
                    <a:spcPts val="3359"/>
                  </a:lnSpc>
                  <a:buFont typeface="Arial"/>
                  <a:buChar char="•"/>
                </a:pPr>
                <a14:m>
                  <m:oMath xmlns:m="http://schemas.openxmlformats.org/officeDocument/2006/math">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smtClean="0">
                            <a:solidFill>
                              <a:srgbClr val="000000"/>
                            </a:solidFill>
                            <a:latin typeface="Cambria Math" panose="02040503050406030204" pitchFamily="18" charset="0"/>
                            <a:ea typeface="Open Sauce"/>
                            <a:cs typeface="Open Sauce"/>
                            <a:sym typeface="Open Sauce"/>
                          </a:rPr>
                          <m:t>ℒ</m:t>
                        </m:r>
                      </m:e>
                      <m:sub>
                        <m:r>
                          <a:rPr lang="en-US" sz="2399" b="0" i="1" spc="240" dirty="0" smtClean="0">
                            <a:solidFill>
                              <a:srgbClr val="000000"/>
                            </a:solidFill>
                            <a:latin typeface="Cambria Math" panose="02040503050406030204" pitchFamily="18" charset="0"/>
                            <a:ea typeface="Open Sauce"/>
                            <a:cs typeface="Open Sauce"/>
                            <a:sym typeface="Open Sauce"/>
                          </a:rPr>
                          <m:t>𝑓𝑜𝑐𝑎𝑙</m:t>
                        </m:r>
                      </m:sub>
                    </m:sSub>
                    <m:r>
                      <a:rPr lang="en-US" sz="2399" i="1" spc="240" dirty="0">
                        <a:solidFill>
                          <a:srgbClr val="000000"/>
                        </a:solidFill>
                        <a:latin typeface="Cambria Math" panose="02040503050406030204" pitchFamily="18" charset="0"/>
                        <a:ea typeface="Open Sauce"/>
                        <a:cs typeface="Open Sauce"/>
                        <a:sym typeface="Open Sauce"/>
                      </a:rPr>
                      <m:t> = −</m:t>
                    </m:r>
                    <m:r>
                      <a:rPr lang="en-US" sz="2399" i="1" spc="240" dirty="0">
                        <a:solidFill>
                          <a:srgbClr val="000000"/>
                        </a:solidFill>
                        <a:latin typeface="Cambria Math" panose="02040503050406030204" pitchFamily="18" charset="0"/>
                        <a:ea typeface="Open Sauce"/>
                        <a:cs typeface="Open Sauce"/>
                        <a:sym typeface="Open Sauce"/>
                      </a:rPr>
                      <m:t>𝛼</m:t>
                    </m:r>
                    <m:r>
                      <a:rPr lang="en-US" sz="2399" i="1" spc="240" dirty="0">
                        <a:solidFill>
                          <a:srgbClr val="000000"/>
                        </a:solidFill>
                        <a:latin typeface="Cambria Math" panose="02040503050406030204" pitchFamily="18" charset="0"/>
                        <a:ea typeface="Open Sauce"/>
                        <a:cs typeface="Open Sauce"/>
                        <a:sym typeface="Open Sauce"/>
                      </a:rPr>
                      <m:t>(1 − </m:t>
                    </m:r>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err="1">
                            <a:solidFill>
                              <a:srgbClr val="000000"/>
                            </a:solidFill>
                            <a:latin typeface="Cambria Math" panose="02040503050406030204" pitchFamily="18" charset="0"/>
                            <a:ea typeface="Open Sauce"/>
                            <a:cs typeface="Open Sauce"/>
                            <a:sym typeface="Open Sauce"/>
                          </a:rPr>
                          <m:t>𝑝</m:t>
                        </m:r>
                      </m:e>
                      <m:sub>
                        <m:r>
                          <a:rPr lang="en-US" sz="2399" b="0" i="1" spc="240" dirty="0" smtClean="0">
                            <a:solidFill>
                              <a:srgbClr val="000000"/>
                            </a:solidFill>
                            <a:latin typeface="Cambria Math" panose="02040503050406030204" pitchFamily="18" charset="0"/>
                            <a:ea typeface="Open Sauce"/>
                            <a:cs typeface="Open Sauce"/>
                            <a:sym typeface="Open Sauce"/>
                          </a:rPr>
                          <m:t>𝑡</m:t>
                        </m:r>
                      </m:sub>
                    </m:sSub>
                    <m:r>
                      <a:rPr lang="en-US" sz="2399" i="1" spc="240" dirty="0">
                        <a:solidFill>
                          <a:srgbClr val="000000"/>
                        </a:solidFill>
                        <a:latin typeface="Cambria Math" panose="02040503050406030204" pitchFamily="18" charset="0"/>
                        <a:ea typeface="Open Sauce"/>
                        <a:cs typeface="Open Sauce"/>
                        <a:sym typeface="Open Sauce"/>
                      </a:rPr>
                      <m:t>)ᵞ </m:t>
                    </m:r>
                    <m:r>
                      <m:rPr>
                        <m:sty m:val="p"/>
                      </m:rPr>
                      <a:rPr lang="en-US" sz="2399" i="1" spc="240" dirty="0">
                        <a:solidFill>
                          <a:srgbClr val="000000"/>
                        </a:solidFill>
                        <a:latin typeface="Cambria Math" panose="02040503050406030204" pitchFamily="18" charset="0"/>
                        <a:ea typeface="Open Sauce"/>
                        <a:cs typeface="Open Sauce"/>
                        <a:sym typeface="Open Sauce"/>
                      </a:rPr>
                      <m:t>log</m:t>
                    </m:r>
                    <m:r>
                      <a:rPr lang="en-US" sz="2399" i="1" spc="240" dirty="0">
                        <a:solidFill>
                          <a:srgbClr val="000000"/>
                        </a:solidFill>
                        <a:latin typeface="Cambria Math" panose="02040503050406030204" pitchFamily="18" charset="0"/>
                        <a:ea typeface="Open Sauce"/>
                        <a:cs typeface="Open Sauce"/>
                        <a:sym typeface="Open Sauce"/>
                      </a:rPr>
                      <m:t>⁡(</m:t>
                    </m:r>
                    <m:sSub>
                      <m:sSubPr>
                        <m:ctrlPr>
                          <a:rPr lang="en-US" sz="2399" b="0" i="1" spc="240" dirty="0" smtClean="0">
                            <a:solidFill>
                              <a:srgbClr val="000000"/>
                            </a:solidFill>
                            <a:latin typeface="Cambria Math" panose="02040503050406030204" pitchFamily="18" charset="0"/>
                            <a:ea typeface="Open Sauce"/>
                            <a:cs typeface="Open Sauce"/>
                            <a:sym typeface="Open Sauce"/>
                          </a:rPr>
                        </m:ctrlPr>
                      </m:sSubPr>
                      <m:e>
                        <m:r>
                          <a:rPr lang="en-US" sz="2399" i="1" spc="240" dirty="0" err="1">
                            <a:solidFill>
                              <a:srgbClr val="000000"/>
                            </a:solidFill>
                            <a:latin typeface="Cambria Math" panose="02040503050406030204" pitchFamily="18" charset="0"/>
                            <a:ea typeface="Open Sauce"/>
                            <a:cs typeface="Open Sauce"/>
                            <a:sym typeface="Open Sauce"/>
                          </a:rPr>
                          <m:t>𝑝</m:t>
                        </m:r>
                      </m:e>
                      <m:sub>
                        <m:r>
                          <a:rPr lang="en-US" sz="2399" b="0" i="1" spc="240" dirty="0" smtClean="0">
                            <a:solidFill>
                              <a:srgbClr val="000000"/>
                            </a:solidFill>
                            <a:latin typeface="Cambria Math" panose="02040503050406030204" pitchFamily="18" charset="0"/>
                            <a:ea typeface="Open Sauce"/>
                            <a:cs typeface="Open Sauce"/>
                            <a:sym typeface="Open Sauce"/>
                          </a:rPr>
                          <m:t>𝑡</m:t>
                        </m:r>
                      </m:sub>
                    </m:sSub>
                    <m:r>
                      <a:rPr lang="en-US" sz="2399" i="1" spc="240" dirty="0">
                        <a:solidFill>
                          <a:srgbClr val="000000"/>
                        </a:solidFill>
                        <a:latin typeface="Cambria Math" panose="02040503050406030204" pitchFamily="18" charset="0"/>
                        <a:ea typeface="Open Sauce"/>
                        <a:cs typeface="Open Sauce"/>
                        <a:sym typeface="Open Sauce"/>
                      </a:rPr>
                      <m:t>)</m:t>
                    </m:r>
                  </m:oMath>
                </a14:m>
              </a:p>
              <a:p>
                <a:pPr algn="l">
                  <a:lnSpc>
                    <a:spcPts val="3359"/>
                  </a:lnSpc>
                </a:pPr>
                <a:r>
                  <a:rPr lang="en-US" sz="2399" spc="240" dirty="0">
                    <a:solidFill>
                      <a:srgbClr val="000000"/>
                    </a:solidFill>
                    <a:latin typeface="Open Sauce"/>
                    <a:ea typeface="Open Sauce"/>
                    <a:cs typeface="Open Sauce"/>
                    <a:sym typeface="Open Sauce"/>
                  </a:rPr>
                  <a:t>      where:</a:t>
                </a:r>
              </a:p>
              <a:p>
                <a:pPr marL="1036320" lvl="2" indent="-345440" algn="l">
                  <a:lnSpc>
                    <a:spcPts val="3359"/>
                  </a:lnSpc>
                  <a:buFont typeface="Arial"/>
                  <a:buChar char="⚬"/>
                </a:pP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𝑝</m:t>
                    </m:r>
                    <m:r>
                      <a:rPr lang="en-US" sz="2399" i="1" spc="240" dirty="0" smtClean="0">
                        <a:solidFill>
                          <a:srgbClr val="000000"/>
                        </a:solidFill>
                        <a:latin typeface="Cambria Math" panose="02040503050406030204" pitchFamily="18" charset="0"/>
                        <a:ea typeface="Open Sauce"/>
                        <a:cs typeface="Open Sauce"/>
                        <a:sym typeface="Open Sauce"/>
                      </a:rPr>
                      <m:t>_</m:t>
                    </m:r>
                    <m:r>
                      <a:rPr lang="en-US" sz="2399" i="1" spc="240" dirty="0" smtClean="0">
                        <a:solidFill>
                          <a:srgbClr val="000000"/>
                        </a:solidFill>
                        <a:latin typeface="Cambria Math" panose="02040503050406030204" pitchFamily="18" charset="0"/>
                        <a:ea typeface="Open Sauce"/>
                        <a:cs typeface="Open Sauce"/>
                        <a:sym typeface="Open Sauce"/>
                      </a:rPr>
                      <m:t>𝑡</m:t>
                    </m:r>
                    <m:r>
                      <a:rPr lang="en-US" sz="2399" i="1" spc="240" dirty="0">
                        <a:solidFill>
                          <a:srgbClr val="000000"/>
                        </a:solidFill>
                        <a:latin typeface="Cambria Math" panose="02040503050406030204" pitchFamily="18" charset="0"/>
                        <a:ea typeface="Open Sauce"/>
                        <a:cs typeface="Open Sauce"/>
                        <a:sym typeface="Open Sauce"/>
                      </a:rPr>
                      <m:t> = </m:t>
                    </m:r>
                    <m:r>
                      <a:rPr lang="en-US" sz="2399" i="1" spc="240" dirty="0">
                        <a:solidFill>
                          <a:srgbClr val="000000"/>
                        </a:solidFill>
                        <a:latin typeface="Cambria Math" panose="02040503050406030204" pitchFamily="18" charset="0"/>
                        <a:ea typeface="Open Sauce"/>
                        <a:cs typeface="Open Sauce"/>
                        <a:sym typeface="Open Sauce"/>
                      </a:rPr>
                      <m:t>𝑝</m:t>
                    </m:r>
                    <m:r>
                      <a:rPr lang="en-US" sz="2399" i="1" spc="240" dirty="0">
                        <a:solidFill>
                          <a:srgbClr val="000000"/>
                        </a:solidFill>
                        <a:latin typeface="Cambria Math" panose="02040503050406030204" pitchFamily="18" charset="0"/>
                        <a:ea typeface="Open Sauce"/>
                        <a:cs typeface="Open Sauce"/>
                        <a:sym typeface="Open Sauce"/>
                      </a:rPr>
                      <m:t> </m:t>
                    </m:r>
                  </m:oMath>
                </a14:m>
                <a:r>
                  <a:rPr lang="en-US" sz="2399" spc="240" dirty="0">
                    <a:solidFill>
                      <a:srgbClr val="000000"/>
                    </a:solidFill>
                    <a:latin typeface="Open Sauce"/>
                    <a:ea typeface="Open Sauce"/>
                    <a:cs typeface="Open Sauce"/>
                    <a:sym typeface="Open Sauce"/>
                  </a:rPr>
                  <a:t>if </a:t>
                </a: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𝑦</m:t>
                    </m:r>
                    <m:r>
                      <a:rPr lang="en-US" sz="2399" i="1" spc="240" dirty="0" smtClean="0">
                        <a:solidFill>
                          <a:srgbClr val="000000"/>
                        </a:solidFill>
                        <a:latin typeface="Cambria Math" panose="02040503050406030204" pitchFamily="18" charset="0"/>
                        <a:ea typeface="Open Sauce"/>
                        <a:cs typeface="Open Sauce"/>
                        <a:sym typeface="Open Sauce"/>
                      </a:rPr>
                      <m:t>=1</m:t>
                    </m:r>
                  </m:oMath>
                </a14:m>
                <a:r>
                  <a:rPr lang="en-US" sz="2399" spc="240" dirty="0">
                    <a:solidFill>
                      <a:srgbClr val="000000"/>
                    </a:solidFill>
                    <a:latin typeface="Open Sauce"/>
                    <a:ea typeface="Open Sauce"/>
                    <a:cs typeface="Open Sauce"/>
                    <a:sym typeface="Open Sauce"/>
                  </a:rPr>
                  <a:t>, else </a:t>
                </a:r>
                <a14:m/>
              </a:p>
              <a:p>
                <a:pPr marL="1036320" lvl="2" indent="-345440" algn="l">
                  <a:lnSpc>
                    <a:spcPts val="3359"/>
                  </a:lnSpc>
                  <a:buFont typeface="Arial"/>
                  <a:buChar char="⚬"/>
                </a:pPr>
                <a:r>
                  <a:rPr lang="en-US" sz="2399" spc="240" dirty="0">
                    <a:solidFill>
                      <a:srgbClr val="000000"/>
                    </a:solidFill>
                    <a:latin typeface="Open Sauce"/>
                    <a:ea typeface="Open Sauce"/>
                    <a:cs typeface="Open Sauce"/>
                    <a:sym typeface="Open Sauce"/>
                  </a:rPr>
                  <a:t>(balancing parameter)</a:t>
                </a:r>
              </a:p>
              <a:p>
                <a:pPr marL="1036320" lvl="2" indent="-345440" algn="l">
                  <a:lnSpc>
                    <a:spcPts val="3359"/>
                  </a:lnSpc>
                  <a:buFont typeface="Arial"/>
                  <a:buChar char="⚬"/>
                </a:pPr>
                <a14:m>
                  <m:oMath xmlns:m="http://schemas.openxmlformats.org/officeDocument/2006/math">
                    <m:r>
                      <a:rPr lang="en-US" sz="2399" i="1" spc="240" dirty="0" smtClean="0">
                        <a:solidFill>
                          <a:srgbClr val="000000"/>
                        </a:solidFill>
                        <a:latin typeface="Cambria Math" panose="02040503050406030204" pitchFamily="18" charset="0"/>
                        <a:ea typeface="Open Sauce"/>
                        <a:cs typeface="Open Sauce"/>
                        <a:sym typeface="Open Sauce"/>
                      </a:rPr>
                      <m:t>𝛾</m:t>
                    </m:r>
                    <m:r>
                      <a:rPr lang="en-US" sz="2399" i="1" spc="240" dirty="0" smtClean="0">
                        <a:solidFill>
                          <a:srgbClr val="000000"/>
                        </a:solidFill>
                        <a:latin typeface="Cambria Math" panose="02040503050406030204" pitchFamily="18" charset="0"/>
                        <a:ea typeface="Open Sauce"/>
                        <a:cs typeface="Open Sauce"/>
                        <a:sym typeface="Open Sauce"/>
                      </a:rPr>
                      <m:t> = 2 </m:t>
                    </m:r>
                  </m:oMath>
                </a14:m>
                <a:r>
                  <a:rPr lang="en-US" sz="2399" spc="240" dirty="0">
                    <a:solidFill>
                      <a:srgbClr val="000000"/>
                    </a:solidFill>
                    <a:latin typeface="Open Sauce"/>
                    <a:ea typeface="Open Sauce"/>
                    <a:cs typeface="Open Sauce"/>
                    <a:sym typeface="Open Sauce"/>
                  </a:rPr>
                  <a:t>(focusing parameter), which reduces the loss for well-classified examples, forcing the model to focus on hard, misclassified examples</a:t>
                </a:r>
              </a:p>
              <a:p>
                <a:pPr algn="l">
                  <a:lnSpc>
                    <a:spcPts val="3359"/>
                  </a:lnSpc>
                  <a:spcBef>
                    <a:spcPct val="0"/>
                  </a:spcBef>
                </a:pPr>
                <a:endParaRPr lang="en-US" sz="2399" spc="240" dirty="0">
                  <a:solidFill>
                    <a:srgbClr val="000000"/>
                  </a:solidFill>
                  <a:latin typeface="Open Sauce"/>
                  <a:ea typeface="Open Sauce"/>
                  <a:cs typeface="Open Sauce"/>
                  <a:sym typeface="Open Sauce"/>
                </a:endParaRPr>
              </a:p>
            </p:txBody>
          </p:sp>
        </mc:Choice>
        <mc:Fallback>
          <p:sp>
            <p:nvSpPr>
              <p:cNvPr id="4" name="TextBox 4"/>
              <p:cNvSpPr txBox="1">
                <a:spLocks noRot="1" noChangeAspect="1" noMove="1" noResize="1" noEditPoints="1" noAdjustHandles="1" noChangeArrowheads="1" noChangeShapeType="1" noTextEdit="1"/>
              </p:cNvSpPr>
              <p:nvPr/>
            </p:nvSpPr>
            <p:spPr>
              <a:xfrm>
                <a:off x="1028700" y="1389260"/>
                <a:ext cx="15927548" cy="8002383"/>
              </a:xfrm>
              <a:prstGeom prst="rect">
                <a:avLst/>
              </a:prstGeom>
              <a:blipFill>
                <a:blip r:embed="rId3"/>
                <a:stretch>
                  <a:fillRect l="-1569" t="-1219"/>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1194054" y="2438509"/>
            <a:ext cx="4730902" cy="7458940"/>
          </a:xfrm>
          <a:custGeom>
            <a:avLst/>
            <a:gdLst/>
            <a:ahLst/>
            <a:cxnLst/>
            <a:rect l="l" t="t" r="r" b="b"/>
            <a:pathLst>
              <a:path w="4730902" h="7458940">
                <a:moveTo>
                  <a:pt x="0" y="0"/>
                </a:moveTo>
                <a:lnTo>
                  <a:pt x="4730902" y="0"/>
                </a:lnTo>
                <a:lnTo>
                  <a:pt x="4730902" y="7458939"/>
                </a:lnTo>
                <a:lnTo>
                  <a:pt x="0" y="7458939"/>
                </a:lnTo>
                <a:lnTo>
                  <a:pt x="0" y="0"/>
                </a:lnTo>
                <a:close/>
              </a:path>
            </a:pathLst>
          </a:custGeom>
          <a:blipFill>
            <a:blip r:embed="rId3"/>
            <a:stretch>
              <a:fillRect/>
            </a:stretch>
          </a:blipFill>
        </p:spPr>
      </p:sp>
      <p:sp>
        <p:nvSpPr>
          <p:cNvPr id="5" name="TextBox 5"/>
          <p:cNvSpPr txBox="1"/>
          <p:nvPr/>
        </p:nvSpPr>
        <p:spPr>
          <a:xfrm>
            <a:off x="1194054" y="1392029"/>
            <a:ext cx="15927548" cy="646429"/>
          </a:xfrm>
          <a:prstGeom prst="rect">
            <a:avLst/>
          </a:prstGeom>
        </p:spPr>
        <p:txBody>
          <a:bodyPr lIns="0" tIns="0" rIns="0" bIns="0" rtlCol="0" anchor="t">
            <a:spAutoFit/>
          </a:bodyPr>
          <a:lstStyle/>
          <a:p>
            <a:pPr algn="l">
              <a:lnSpc>
                <a:spcPts val="5320"/>
              </a:lnSpc>
            </a:pPr>
            <a:r>
              <a:rPr lang="en-US" sz="3800" b="1">
                <a:solidFill>
                  <a:srgbClr val="000000"/>
                </a:solidFill>
                <a:latin typeface="Canva Sans Bold"/>
                <a:ea typeface="Canva Sans Bold"/>
                <a:cs typeface="Canva Sans Bold"/>
                <a:sym typeface="Canva Sans Bold"/>
              </a:rPr>
              <a:t>(4) Graph Attention Network (GAT) Architecture</a:t>
            </a:r>
          </a:p>
        </p:txBody>
      </p:sp>
      <p:sp>
        <p:nvSpPr>
          <p:cNvPr id="6" name="TextBox 6"/>
          <p:cNvSpPr txBox="1"/>
          <p:nvPr/>
        </p:nvSpPr>
        <p:spPr>
          <a:xfrm>
            <a:off x="6324378" y="2552280"/>
            <a:ext cx="10934922" cy="6692266"/>
          </a:xfrm>
          <a:prstGeom prst="rect">
            <a:avLst/>
          </a:prstGeom>
        </p:spPr>
        <p:txBody>
          <a:bodyPr lIns="0" tIns="0" rIns="0" bIns="0" rtlCol="0" anchor="t">
            <a:spAutoFit/>
          </a:bodyPr>
          <a:lstStyle/>
          <a:p>
            <a:pPr marL="518155" lvl="1" indent="-259078" algn="l">
              <a:lnSpc>
                <a:spcPts val="3359"/>
              </a:lnSpc>
              <a:spcBef>
                <a:spcPct val="0"/>
              </a:spcBef>
              <a:buAutoNum type="arabicPeriod"/>
            </a:pPr>
            <a:r>
              <a:rPr lang="en-US" sz="2399" b="1" spc="239">
                <a:solidFill>
                  <a:srgbClr val="000000"/>
                </a:solidFill>
                <a:latin typeface="Open Sauce Bold"/>
                <a:ea typeface="Open Sauce Bold"/>
                <a:cs typeface="Open Sauce Bold"/>
                <a:sym typeface="Open Sauce Bold"/>
              </a:rPr>
              <a:t>Input Encoders:</a:t>
            </a:r>
            <a:r>
              <a:rPr lang="en-US" sz="2399" spc="239">
                <a:solidFill>
                  <a:srgbClr val="000000"/>
                </a:solidFill>
                <a:latin typeface="Open Sauce"/>
                <a:ea typeface="Open Sauce"/>
                <a:cs typeface="Open Sauce"/>
                <a:sym typeface="Open Sauce"/>
              </a:rPr>
              <a:t> Separate linear layers project the raw node features and edge features into a shared, high-dimensional embedding space. This is the first step of representation learning.</a:t>
            </a:r>
          </a:p>
          <a:p>
            <a:pPr marL="518155" lvl="1" indent="-259078" algn="l">
              <a:lnSpc>
                <a:spcPts val="3359"/>
              </a:lnSpc>
              <a:spcBef>
                <a:spcPct val="0"/>
              </a:spcBef>
              <a:buAutoNum type="arabicPeriod"/>
            </a:pPr>
            <a:r>
              <a:rPr lang="en-US" sz="2399" b="1" spc="239">
                <a:solidFill>
                  <a:srgbClr val="000000"/>
                </a:solidFill>
                <a:latin typeface="Open Sauce Bold"/>
                <a:ea typeface="Open Sauce Bold"/>
                <a:cs typeface="Open Sauce Bold"/>
                <a:sym typeface="Open Sauce Bold"/>
              </a:rPr>
              <a:t>Graph Attention Layers (The Core):</a:t>
            </a:r>
            <a:r>
              <a:rPr lang="en-US" sz="2399" spc="239">
                <a:solidFill>
                  <a:srgbClr val="000000"/>
                </a:solidFill>
                <a:latin typeface="Open Sauce"/>
                <a:ea typeface="Open Sauce"/>
                <a:cs typeface="Open Sauce"/>
                <a:sym typeface="Open Sauce"/>
              </a:rPr>
              <a:t> Multiple GAT layers with multi-head attention are stacked. Each layer aggregates information from a node's neighborhood, weighting neighbors based on learned attention scores. Residual connections and layer normalization ensure stable training.</a:t>
            </a:r>
          </a:p>
          <a:p>
            <a:pPr marL="518155" lvl="1" indent="-259078" algn="l">
              <a:lnSpc>
                <a:spcPts val="3359"/>
              </a:lnSpc>
              <a:spcBef>
                <a:spcPct val="0"/>
              </a:spcBef>
              <a:buAutoNum type="arabicPeriod"/>
            </a:pPr>
            <a:r>
              <a:rPr lang="en-US" sz="2399" b="1" spc="239">
                <a:solidFill>
                  <a:srgbClr val="000000"/>
                </a:solidFill>
                <a:latin typeface="Open Sauce Bold"/>
                <a:ea typeface="Open Sauce Bold"/>
                <a:cs typeface="Open Sauce Bold"/>
                <a:sym typeface="Open Sauce Bold"/>
              </a:rPr>
              <a:t>Classification Head:</a:t>
            </a:r>
            <a:r>
              <a:rPr lang="en-US" sz="2399" spc="239">
                <a:solidFill>
                  <a:srgbClr val="000000"/>
                </a:solidFill>
                <a:latin typeface="Open Sauce"/>
                <a:ea typeface="Open Sauce"/>
                <a:cs typeface="Open Sauce"/>
                <a:sym typeface="Open Sauce"/>
              </a:rPr>
              <a:t> For the final prediction, the updated representations of the source node, destination node, and the edge are concatenated and fed into a multi-layer perceptron (MLP) to produce a final fraud probability score for the transaction.</a:t>
            </a:r>
          </a:p>
          <a:p>
            <a:pPr algn="just">
              <a:lnSpc>
                <a:spcPts val="3359"/>
              </a:lnSpc>
              <a:spcBef>
                <a:spcPct val="0"/>
              </a:spcBef>
            </a:pPr>
            <a:endParaRPr lang="en-US" sz="2399" spc="239">
              <a:solidFill>
                <a:srgbClr val="000000"/>
              </a:solidFill>
              <a:latin typeface="Open Sauce"/>
              <a:ea typeface="Open Sauce"/>
              <a:cs typeface="Open Sauce"/>
              <a:sym typeface="Open Sau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470294"/>
            <a:ext cx="8434697" cy="537845"/>
          </a:xfrm>
          <a:prstGeom prst="rect">
            <a:avLst/>
          </a:prstGeom>
        </p:spPr>
        <p:txBody>
          <a:bodyPr lIns="0" tIns="0" rIns="0" bIns="0" rtlCol="0" anchor="t">
            <a:spAutoFit/>
          </a:bodyPr>
          <a:lstStyle/>
          <a:p>
            <a:pPr algn="l">
              <a:lnSpc>
                <a:spcPts val="4480"/>
              </a:lnSpc>
              <a:spcBef>
                <a:spcPct val="0"/>
              </a:spcBef>
            </a:pPr>
            <a:r>
              <a:rPr lang="en-US" sz="3200" b="1" spc="320">
                <a:solidFill>
                  <a:srgbClr val="000000"/>
                </a:solidFill>
                <a:latin typeface="Canva Sans Bold"/>
                <a:ea typeface="Canva Sans Bold"/>
                <a:cs typeface="Canva Sans Bold"/>
                <a:sym typeface="Canva Sans Bold"/>
              </a:rPr>
              <a:t>Mathematical Formulation</a:t>
            </a:r>
          </a:p>
        </p:txBody>
      </p:sp>
      <p:sp>
        <p:nvSpPr>
          <p:cNvPr id="5" name="Freeform 5"/>
          <p:cNvSpPr/>
          <p:nvPr/>
        </p:nvSpPr>
        <p:spPr>
          <a:xfrm>
            <a:off x="1716024" y="6223367"/>
            <a:ext cx="3465897" cy="1469413"/>
          </a:xfrm>
          <a:custGeom>
            <a:avLst/>
            <a:gdLst/>
            <a:ahLst/>
            <a:cxnLst/>
            <a:rect l="l" t="t" r="r" b="b"/>
            <a:pathLst>
              <a:path w="3465897" h="1469413">
                <a:moveTo>
                  <a:pt x="0" y="0"/>
                </a:moveTo>
                <a:lnTo>
                  <a:pt x="3465898" y="0"/>
                </a:lnTo>
                <a:lnTo>
                  <a:pt x="3465898" y="1469413"/>
                </a:lnTo>
                <a:lnTo>
                  <a:pt x="0" y="1469413"/>
                </a:lnTo>
                <a:lnTo>
                  <a:pt x="0" y="0"/>
                </a:lnTo>
                <a:close/>
              </a:path>
            </a:pathLst>
          </a:custGeom>
          <a:blipFill>
            <a:blip r:embed="rId3"/>
            <a:stretch>
              <a:fillRect/>
            </a:stretch>
          </a:blipFill>
        </p:spPr>
      </p:sp>
      <p:sp>
        <p:nvSpPr>
          <p:cNvPr id="6" name="Freeform 6"/>
          <p:cNvSpPr/>
          <p:nvPr/>
        </p:nvSpPr>
        <p:spPr>
          <a:xfrm>
            <a:off x="5383747" y="6206747"/>
            <a:ext cx="10614526" cy="1486034"/>
          </a:xfrm>
          <a:custGeom>
            <a:avLst/>
            <a:gdLst/>
            <a:ahLst/>
            <a:cxnLst/>
            <a:rect l="l" t="t" r="r" b="b"/>
            <a:pathLst>
              <a:path w="10614526" h="1486034">
                <a:moveTo>
                  <a:pt x="0" y="0"/>
                </a:moveTo>
                <a:lnTo>
                  <a:pt x="10614526" y="0"/>
                </a:lnTo>
                <a:lnTo>
                  <a:pt x="10614526" y="1486033"/>
                </a:lnTo>
                <a:lnTo>
                  <a:pt x="0" y="1486033"/>
                </a:lnTo>
                <a:lnTo>
                  <a:pt x="0" y="0"/>
                </a:lnTo>
                <a:close/>
              </a:path>
            </a:pathLst>
          </a:custGeom>
          <a:blipFill>
            <a:blip r:embed="rId4"/>
            <a:stretch>
              <a:fillRect/>
            </a:stretch>
          </a:blipFill>
        </p:spPr>
      </p:sp>
      <p:sp>
        <p:nvSpPr>
          <p:cNvPr id="7" name="TextBox 7"/>
          <p:cNvSpPr txBox="1"/>
          <p:nvPr/>
        </p:nvSpPr>
        <p:spPr>
          <a:xfrm>
            <a:off x="1028700" y="5095875"/>
            <a:ext cx="14831874" cy="824866"/>
          </a:xfrm>
          <a:prstGeom prst="rect">
            <a:avLst/>
          </a:prstGeom>
        </p:spPr>
        <p:txBody>
          <a:bodyPr lIns="0" tIns="0" rIns="0" bIns="0" rtlCol="0" anchor="t">
            <a:spAutoFit/>
          </a:bodyPr>
          <a:lstStyle/>
          <a:p>
            <a:pPr marL="518155" lvl="1" indent="-259078" algn="l">
              <a:lnSpc>
                <a:spcPts val="3359"/>
              </a:lnSpc>
              <a:buFont typeface="Arial"/>
              <a:buChar char="•"/>
            </a:pPr>
            <a:r>
              <a:rPr lang="en-US" sz="2399" spc="239">
                <a:solidFill>
                  <a:srgbClr val="000000"/>
                </a:solidFill>
                <a:latin typeface="Open Sauce"/>
                <a:ea typeface="Open Sauce"/>
                <a:cs typeface="Open Sauce"/>
                <a:sym typeface="Open Sauce"/>
              </a:rPr>
              <a:t>Graph attentional operator computes updated node representations for updating the node embeddings</a:t>
            </a:r>
          </a:p>
        </p:txBody>
      </p:sp>
      <p:sp>
        <p:nvSpPr>
          <p:cNvPr id="8" name="Freeform 8"/>
          <p:cNvSpPr/>
          <p:nvPr/>
        </p:nvSpPr>
        <p:spPr>
          <a:xfrm>
            <a:off x="1716024" y="3368072"/>
            <a:ext cx="2968954" cy="1623028"/>
          </a:xfrm>
          <a:custGeom>
            <a:avLst/>
            <a:gdLst/>
            <a:ahLst/>
            <a:cxnLst/>
            <a:rect l="l" t="t" r="r" b="b"/>
            <a:pathLst>
              <a:path w="2968954" h="1623028">
                <a:moveTo>
                  <a:pt x="0" y="0"/>
                </a:moveTo>
                <a:lnTo>
                  <a:pt x="2968954" y="0"/>
                </a:lnTo>
                <a:lnTo>
                  <a:pt x="2968954" y="1623028"/>
                </a:lnTo>
                <a:lnTo>
                  <a:pt x="0" y="1623028"/>
                </a:lnTo>
                <a:lnTo>
                  <a:pt x="0" y="0"/>
                </a:lnTo>
                <a:close/>
              </a:path>
            </a:pathLst>
          </a:custGeom>
          <a:blipFill>
            <a:blip r:embed="rId5"/>
            <a:stretch>
              <a:fillRect/>
            </a:stretch>
          </a:blipFill>
        </p:spPr>
      </p:sp>
      <p:sp>
        <p:nvSpPr>
          <p:cNvPr id="9" name="TextBox 9"/>
          <p:cNvSpPr txBox="1"/>
          <p:nvPr/>
        </p:nvSpPr>
        <p:spPr>
          <a:xfrm>
            <a:off x="1028700" y="2417714"/>
            <a:ext cx="14831874"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Projection of the node and edge features into a shared hidden space using a linear transformation</a:t>
            </a:r>
          </a:p>
        </p:txBody>
      </p:sp>
      <p:sp>
        <p:nvSpPr>
          <p:cNvPr id="10" name="Freeform 10"/>
          <p:cNvSpPr/>
          <p:nvPr/>
        </p:nvSpPr>
        <p:spPr>
          <a:xfrm>
            <a:off x="1716024" y="8748064"/>
            <a:ext cx="4555249" cy="669409"/>
          </a:xfrm>
          <a:custGeom>
            <a:avLst/>
            <a:gdLst/>
            <a:ahLst/>
            <a:cxnLst/>
            <a:rect l="l" t="t" r="r" b="b"/>
            <a:pathLst>
              <a:path w="4555249" h="669409">
                <a:moveTo>
                  <a:pt x="0" y="0"/>
                </a:moveTo>
                <a:lnTo>
                  <a:pt x="4555249" y="0"/>
                </a:lnTo>
                <a:lnTo>
                  <a:pt x="4555249" y="669409"/>
                </a:lnTo>
                <a:lnTo>
                  <a:pt x="0" y="669409"/>
                </a:lnTo>
                <a:lnTo>
                  <a:pt x="0" y="0"/>
                </a:lnTo>
                <a:close/>
              </a:path>
            </a:pathLst>
          </a:custGeom>
          <a:blipFill>
            <a:blip r:embed="rId6"/>
            <a:stretch>
              <a:fillRect/>
            </a:stretch>
          </a:blipFill>
        </p:spPr>
      </p:sp>
      <p:sp>
        <p:nvSpPr>
          <p:cNvPr id="11" name="TextBox 11"/>
          <p:cNvSpPr txBox="1"/>
          <p:nvPr/>
        </p:nvSpPr>
        <p:spPr>
          <a:xfrm>
            <a:off x="1166399" y="7799374"/>
            <a:ext cx="15274264" cy="824865"/>
          </a:xfrm>
          <a:prstGeom prst="rect">
            <a:avLst/>
          </a:prstGeom>
        </p:spPr>
        <p:txBody>
          <a:bodyPr lIns="0" tIns="0" rIns="0" bIns="0" rtlCol="0" anchor="t">
            <a:spAutoFit/>
          </a:bodyPr>
          <a:lstStyle/>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Predictions are made at the edge level by concatenating source node, destination node, and edge features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94054" y="1392029"/>
            <a:ext cx="15927548" cy="646429"/>
          </a:xfrm>
          <a:prstGeom prst="rect">
            <a:avLst/>
          </a:prstGeom>
        </p:spPr>
        <p:txBody>
          <a:bodyPr lIns="0" tIns="0" rIns="0" bIns="0" rtlCol="0" anchor="t">
            <a:spAutoFit/>
          </a:bodyPr>
          <a:lstStyle/>
          <a:p>
            <a:pPr algn="l">
              <a:lnSpc>
                <a:spcPts val="5320"/>
              </a:lnSpc>
            </a:pPr>
            <a:r>
              <a:rPr lang="en-US" sz="3800" b="1">
                <a:solidFill>
                  <a:srgbClr val="000000"/>
                </a:solidFill>
                <a:latin typeface="Canva Sans Bold"/>
                <a:ea typeface="Canva Sans Bold"/>
                <a:cs typeface="Canva Sans Bold"/>
                <a:sym typeface="Canva Sans Bold"/>
              </a:rPr>
              <a:t>(5) Training Strategy</a:t>
            </a:r>
          </a:p>
        </p:txBody>
      </p:sp>
      <p:sp>
        <p:nvSpPr>
          <p:cNvPr id="5" name="TextBox 5"/>
          <p:cNvSpPr txBox="1"/>
          <p:nvPr/>
        </p:nvSpPr>
        <p:spPr>
          <a:xfrm>
            <a:off x="1194054" y="2390884"/>
            <a:ext cx="16331946" cy="8851462"/>
          </a:xfrm>
          <a:prstGeom prst="rect">
            <a:avLst/>
          </a:prstGeom>
        </p:spPr>
        <p:txBody>
          <a:bodyPr wrap="square" lIns="0" tIns="0" rIns="0" bIns="0" rtlCol="0" anchor="t">
            <a:spAutoFit/>
          </a:bodyPr>
          <a:lstStyle/>
          <a:p>
            <a:pPr marL="514167" lvl="1" indent="-257084" algn="l">
              <a:lnSpc>
                <a:spcPts val="3334"/>
              </a:lnSpc>
              <a:buAutoNum type="arabicPeriod"/>
            </a:pPr>
            <a:r>
              <a:rPr lang="en-US" sz="2381" b="1" spc="238" dirty="0">
                <a:solidFill>
                  <a:srgbClr val="000000"/>
                </a:solidFill>
                <a:latin typeface="Open Sauce Bold"/>
                <a:ea typeface="Open Sauce Bold"/>
                <a:cs typeface="Open Sauce Bold"/>
                <a:sym typeface="Open Sauce Bold"/>
              </a:rPr>
              <a:t> Temporal Splitting:</a:t>
            </a:r>
          </a:p>
          <a:p>
            <a:pPr algn="l">
              <a:lnSpc>
                <a:spcPts val="3334"/>
              </a:lnSpc>
            </a:pPr>
            <a:r>
              <a:rPr lang="en-US" sz="2381" spc="238" dirty="0">
                <a:solidFill>
                  <a:srgbClr val="000000"/>
                </a:solidFill>
                <a:latin typeface="Open Sauce"/>
                <a:ea typeface="Open Sauce"/>
                <a:cs typeface="Open Sauce"/>
                <a:sym typeface="Open Sauce"/>
              </a:rPr>
              <a:t>      Chronological split of dataset to prevent data leakage and simulate real-world scenario: </a:t>
            </a:r>
          </a:p>
          <a:p>
            <a:pPr marL="1542501" lvl="3" indent="-385625" algn="l">
              <a:lnSpc>
                <a:spcPts val="3334"/>
              </a:lnSpc>
              <a:buFont typeface="Arial"/>
              <a:buChar char="￭"/>
            </a:pPr>
            <a:r>
              <a:rPr lang="en-US" sz="2381" spc="238" dirty="0">
                <a:solidFill>
                  <a:srgbClr val="000000"/>
                </a:solidFill>
                <a:latin typeface="Open Sauce"/>
                <a:ea typeface="Open Sauce"/>
                <a:cs typeface="Open Sauce"/>
                <a:sym typeface="Open Sauce"/>
              </a:rPr>
              <a:t>Training: First 70% of transactions</a:t>
            </a:r>
          </a:p>
          <a:p>
            <a:pPr marL="1542501" lvl="3" indent="-385625" algn="l">
              <a:lnSpc>
                <a:spcPts val="3334"/>
              </a:lnSpc>
              <a:buFont typeface="Arial"/>
              <a:buChar char="￭"/>
            </a:pPr>
            <a:r>
              <a:rPr lang="en-US" sz="2381" spc="238" dirty="0">
                <a:solidFill>
                  <a:srgbClr val="000000"/>
                </a:solidFill>
                <a:latin typeface="Open Sauce"/>
                <a:ea typeface="Open Sauce"/>
                <a:cs typeface="Open Sauce"/>
                <a:sym typeface="Open Sauce"/>
              </a:rPr>
              <a:t>Validation: Next 15% of transactions</a:t>
            </a:r>
          </a:p>
          <a:p>
            <a:pPr marL="1542501" lvl="3" indent="-385625" algn="l">
              <a:lnSpc>
                <a:spcPts val="3334"/>
              </a:lnSpc>
              <a:buFont typeface="Arial"/>
              <a:buChar char="￭"/>
            </a:pPr>
            <a:r>
              <a:rPr lang="en-US" sz="2381" spc="238" dirty="0">
                <a:solidFill>
                  <a:srgbClr val="000000"/>
                </a:solidFill>
                <a:latin typeface="Open Sauce"/>
                <a:ea typeface="Open Sauce"/>
                <a:cs typeface="Open Sauce"/>
                <a:sym typeface="Open Sauce"/>
              </a:rPr>
              <a:t>Testing: Most recent 15% of transactions</a:t>
            </a:r>
          </a:p>
          <a:p>
            <a:pPr algn="l">
              <a:lnSpc>
                <a:spcPts val="3334"/>
              </a:lnSpc>
            </a:pPr>
            <a:endParaRPr lang="en-US" sz="2381" spc="238" dirty="0">
              <a:solidFill>
                <a:srgbClr val="000000"/>
              </a:solidFill>
              <a:latin typeface="Open Sauce"/>
              <a:ea typeface="Open Sauce"/>
              <a:cs typeface="Open Sauce"/>
              <a:sym typeface="Open Sauce"/>
            </a:endParaRPr>
          </a:p>
          <a:p>
            <a:pPr algn="just">
              <a:lnSpc>
                <a:spcPts val="3334"/>
              </a:lnSpc>
            </a:pPr>
            <a:r>
              <a:rPr lang="en-US" sz="2381" spc="238" dirty="0">
                <a:solidFill>
                  <a:srgbClr val="000000"/>
                </a:solidFill>
                <a:latin typeface="Open Sauce"/>
                <a:ea typeface="Open Sauce"/>
                <a:cs typeface="Open Sauce"/>
                <a:sym typeface="Open Sauce"/>
              </a:rPr>
              <a:t>  2. </a:t>
            </a:r>
            <a:r>
              <a:rPr lang="en-US" sz="2381" b="1" spc="238" dirty="0">
                <a:solidFill>
                  <a:srgbClr val="000000"/>
                </a:solidFill>
                <a:latin typeface="Open Sauce Bold"/>
                <a:ea typeface="Open Sauce Bold"/>
                <a:cs typeface="Open Sauce Bold"/>
                <a:sym typeface="Open Sauce Bold"/>
              </a:rPr>
              <a:t>Training Procedure:</a:t>
            </a:r>
          </a:p>
          <a:p>
            <a:pPr algn="just">
              <a:lnSpc>
                <a:spcPts val="3334"/>
              </a:lnSpc>
            </a:pPr>
            <a:r>
              <a:rPr lang="en-US" sz="2381" b="1" spc="238" dirty="0">
                <a:solidFill>
                  <a:srgbClr val="000000"/>
                </a:solidFill>
                <a:latin typeface="Open Sauce Bold"/>
                <a:ea typeface="Open Sauce Bold"/>
                <a:cs typeface="Open Sauce Bold"/>
                <a:sym typeface="Open Sauce Bold"/>
              </a:rPr>
              <a:t>       </a:t>
            </a:r>
            <a:r>
              <a:rPr lang="en-US" sz="2381" spc="238" dirty="0">
                <a:solidFill>
                  <a:srgbClr val="000000"/>
                </a:solidFill>
                <a:latin typeface="Open Sauce"/>
                <a:ea typeface="Open Sauce"/>
                <a:cs typeface="Open Sauce"/>
                <a:sym typeface="Open Sauce"/>
              </a:rPr>
              <a:t>The model is trained with the following configuration:</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Optimizer: Adam (LR = 0.001)</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Loss Function: Hybrid (70% Focal + 30% BCE)</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Regularization: Weight Decay (0.01), Dropout (0.3), Gradient Clipping</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Early Stopping: Patience of 20 epochs based on validation F1-score</a:t>
            </a:r>
          </a:p>
          <a:p>
            <a:pPr algn="just">
              <a:lnSpc>
                <a:spcPts val="3334"/>
              </a:lnSpc>
            </a:pPr>
            <a:endParaRPr lang="en-US" sz="2381" spc="238" dirty="0">
              <a:solidFill>
                <a:srgbClr val="000000"/>
              </a:solidFill>
              <a:latin typeface="Open Sauce"/>
              <a:ea typeface="Open Sauce"/>
              <a:cs typeface="Open Sauce"/>
              <a:sym typeface="Open Sauce"/>
            </a:endParaRPr>
          </a:p>
          <a:p>
            <a:pPr algn="just">
              <a:lnSpc>
                <a:spcPts val="3334"/>
              </a:lnSpc>
            </a:pPr>
            <a:r>
              <a:rPr lang="en-US" sz="2381" spc="238" dirty="0">
                <a:solidFill>
                  <a:srgbClr val="000000"/>
                </a:solidFill>
                <a:latin typeface="Open Sauce"/>
                <a:ea typeface="Open Sauce"/>
                <a:cs typeface="Open Sauce"/>
                <a:sym typeface="Open Sauce"/>
              </a:rPr>
              <a:t>   3.</a:t>
            </a:r>
            <a:r>
              <a:rPr lang="en-US" sz="2381" b="1" spc="238" dirty="0">
                <a:solidFill>
                  <a:srgbClr val="000000"/>
                </a:solidFill>
                <a:latin typeface="Open Sauce Bold"/>
                <a:ea typeface="Open Sauce Bold"/>
                <a:cs typeface="Open Sauce Bold"/>
                <a:sym typeface="Open Sauce Bold"/>
              </a:rPr>
              <a:t> Model Configuration:</a:t>
            </a:r>
          </a:p>
          <a:p>
            <a:pPr algn="just">
              <a:lnSpc>
                <a:spcPts val="3334"/>
              </a:lnSpc>
            </a:pPr>
            <a:r>
              <a:rPr lang="en-US" sz="2381" b="1" spc="238" dirty="0">
                <a:solidFill>
                  <a:srgbClr val="000000"/>
                </a:solidFill>
                <a:latin typeface="Open Sauce Bold"/>
                <a:ea typeface="Open Sauce Bold"/>
                <a:cs typeface="Open Sauce Bold"/>
                <a:sym typeface="Open Sauce Bold"/>
              </a:rPr>
              <a:t>       </a:t>
            </a:r>
            <a:r>
              <a:rPr lang="en-US" sz="2381" spc="238" dirty="0">
                <a:solidFill>
                  <a:srgbClr val="000000"/>
                </a:solidFill>
                <a:latin typeface="Open Sauce"/>
                <a:ea typeface="Open Sauce"/>
                <a:cs typeface="Open Sauce"/>
                <a:sym typeface="Open Sauce"/>
              </a:rPr>
              <a:t>The model is configured with the following Configuration:</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Hidden Dimension: 64 </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Number of Layers: 2</a:t>
            </a:r>
          </a:p>
          <a:p>
            <a:pPr marL="1542501" lvl="3" indent="-385625" algn="just">
              <a:lnSpc>
                <a:spcPts val="3334"/>
              </a:lnSpc>
              <a:buFont typeface="Arial"/>
              <a:buChar char="￭"/>
            </a:pPr>
            <a:r>
              <a:rPr lang="en-US" sz="2381" spc="238" dirty="0">
                <a:solidFill>
                  <a:srgbClr val="000000"/>
                </a:solidFill>
                <a:latin typeface="Open Sauce"/>
                <a:ea typeface="Open Sauce"/>
                <a:cs typeface="Open Sauce"/>
                <a:sym typeface="Open Sauce"/>
              </a:rPr>
              <a:t>Number of attention heads: 4</a:t>
            </a:r>
          </a:p>
          <a:p>
            <a:pPr algn="just">
              <a:lnSpc>
                <a:spcPts val="3334"/>
              </a:lnSpc>
            </a:pPr>
            <a:endParaRPr lang="en-US" sz="2381" spc="238" dirty="0">
              <a:solidFill>
                <a:srgbClr val="000000"/>
              </a:solidFill>
              <a:latin typeface="Open Sauce"/>
              <a:ea typeface="Open Sauce"/>
              <a:cs typeface="Open Sauce"/>
              <a:sym typeface="Open Sauce"/>
            </a:endParaRPr>
          </a:p>
          <a:p>
            <a:pPr algn="just">
              <a:lnSpc>
                <a:spcPts val="3334"/>
              </a:lnSpc>
            </a:pPr>
            <a:endParaRPr lang="en-US" sz="2381" spc="238" dirty="0">
              <a:solidFill>
                <a:srgbClr val="000000"/>
              </a:solidFill>
              <a:latin typeface="Open Sauce"/>
              <a:ea typeface="Open Sauce"/>
              <a:cs typeface="Open Sauce"/>
              <a:sym typeface="Open Sauce"/>
            </a:endParaRPr>
          </a:p>
          <a:p>
            <a:pPr algn="l">
              <a:lnSpc>
                <a:spcPts val="3334"/>
              </a:lnSpc>
            </a:pPr>
            <a:endParaRPr lang="en-US" sz="2381" spc="238" dirty="0">
              <a:solidFill>
                <a:srgbClr val="000000"/>
              </a:solidFill>
              <a:latin typeface="Open Sauce"/>
              <a:ea typeface="Open Sauce"/>
              <a:cs typeface="Open Sauce"/>
              <a:sym typeface="Open Sauc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aphicFrame>
        <p:nvGraphicFramePr>
          <p:cNvPr id="4" name="Table 4"/>
          <p:cNvGraphicFramePr>
            <a:graphicFrameLocks noGrp="1"/>
          </p:cNvGraphicFramePr>
          <p:nvPr/>
        </p:nvGraphicFramePr>
        <p:xfrm>
          <a:off x="1166399" y="6300502"/>
          <a:ext cx="9039450" cy="3646181"/>
        </p:xfrm>
        <a:graphic>
          <a:graphicData uri="http://schemas.openxmlformats.org/drawingml/2006/table">
            <a:tbl>
              <a:tblPr/>
              <a:tblGrid>
                <a:gridCol w="1679452">
                  <a:extLst>
                    <a:ext uri="{9D8B030D-6E8A-4147-A177-3AD203B41FA5}">
                      <a16:colId xmlns:a16="http://schemas.microsoft.com/office/drawing/2014/main" val="20000"/>
                    </a:ext>
                  </a:extLst>
                </a:gridCol>
                <a:gridCol w="7359998">
                  <a:extLst>
                    <a:ext uri="{9D8B030D-6E8A-4147-A177-3AD203B41FA5}">
                      <a16:colId xmlns:a16="http://schemas.microsoft.com/office/drawing/2014/main" val="20001"/>
                    </a:ext>
                  </a:extLst>
                </a:gridCol>
              </a:tblGrid>
              <a:tr h="1313757">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AUC-ROC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Measures the model's ability to distinguish between classes. A value of 1.0 is a perfect classifier.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77354">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F1-Score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The harmonic mean of Precision and Recall. A balanced metric that is crucial for imbalanced datasets.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55070">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Precision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800"/>
                        </a:lnSpc>
                        <a:defRPr/>
                      </a:pPr>
                      <a:r>
                        <a:rPr lang="en-US" sz="2000">
                          <a:solidFill>
                            <a:srgbClr val="000000"/>
                          </a:solidFill>
                          <a:latin typeface="Open Sauce"/>
                          <a:ea typeface="Open Sauce"/>
                          <a:cs typeface="Open Sauce"/>
                          <a:sym typeface="Open Sauce"/>
                        </a:rPr>
                        <a:t>Of all the transactions we flagged as fraud, how many were actually fraud?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Table 5"/>
          <p:cNvGraphicFramePr>
            <a:graphicFrameLocks noGrp="1"/>
          </p:cNvGraphicFramePr>
          <p:nvPr/>
        </p:nvGraphicFramePr>
        <p:xfrm>
          <a:off x="10400101" y="6300502"/>
          <a:ext cx="6431508" cy="3646181"/>
        </p:xfrm>
        <a:graphic>
          <a:graphicData uri="http://schemas.openxmlformats.org/drawingml/2006/table">
            <a:tbl>
              <a:tblPr/>
              <a:tblGrid>
                <a:gridCol w="1810774">
                  <a:extLst>
                    <a:ext uri="{9D8B030D-6E8A-4147-A177-3AD203B41FA5}">
                      <a16:colId xmlns:a16="http://schemas.microsoft.com/office/drawing/2014/main" val="20000"/>
                    </a:ext>
                  </a:extLst>
                </a:gridCol>
                <a:gridCol w="4620734">
                  <a:extLst>
                    <a:ext uri="{9D8B030D-6E8A-4147-A177-3AD203B41FA5}">
                      <a16:colId xmlns:a16="http://schemas.microsoft.com/office/drawing/2014/main" val="20001"/>
                    </a:ext>
                  </a:extLst>
                </a:gridCol>
              </a:tblGrid>
              <a:tr h="1511216">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Recall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Of all the actual fraudulent transactions, how many did we successfully catch?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3496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Specificity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Of all legitimate transactions, how many did we correctly identify as non-fraudulent? Measure of false alarms.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TextBox 6"/>
          <p:cNvSpPr txBox="1"/>
          <p:nvPr/>
        </p:nvSpPr>
        <p:spPr>
          <a:xfrm>
            <a:off x="1166399" y="1090950"/>
            <a:ext cx="1566521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Experimental Setup &amp; Results</a:t>
            </a:r>
          </a:p>
        </p:txBody>
      </p:sp>
      <p:sp>
        <p:nvSpPr>
          <p:cNvPr id="7" name="TextBox 7"/>
          <p:cNvSpPr txBox="1"/>
          <p:nvPr/>
        </p:nvSpPr>
        <p:spPr>
          <a:xfrm>
            <a:off x="1166398" y="2535720"/>
            <a:ext cx="15665211" cy="3339466"/>
          </a:xfrm>
          <a:prstGeom prst="rect">
            <a:avLst/>
          </a:prstGeom>
        </p:spPr>
        <p:txBody>
          <a:bodyPr lIns="0" tIns="0" rIns="0" bIns="0" rtlCol="0" anchor="t">
            <a:spAutoFit/>
          </a:bodyPr>
          <a:lstStyle/>
          <a:p>
            <a:pPr marL="518155" lvl="1" indent="-259078" algn="just">
              <a:lnSpc>
                <a:spcPts val="3359"/>
              </a:lnSpc>
              <a:buFont typeface="Arial"/>
              <a:buChar char="•"/>
            </a:pPr>
            <a:r>
              <a:rPr lang="en-US" sz="2399" spc="239" dirty="0">
                <a:solidFill>
                  <a:srgbClr val="000000"/>
                </a:solidFill>
                <a:latin typeface="Open Sauce"/>
                <a:ea typeface="Open Sauce"/>
                <a:cs typeface="Open Sauce"/>
                <a:sym typeface="Open Sauce"/>
              </a:rPr>
              <a:t>To manage computational load, the training graph was constructed using all fraudulent transactions and a subsample of 90,000 legitimate ones.</a:t>
            </a:r>
          </a:p>
          <a:p>
            <a:pPr marL="1036310" lvl="2" indent="-345437" algn="just">
              <a:lnSpc>
                <a:spcPts val="3359"/>
              </a:lnSpc>
              <a:buFont typeface="Arial"/>
              <a:buChar char="⚬"/>
            </a:pPr>
            <a:r>
              <a:rPr lang="en-US" sz="2399" spc="239" dirty="0">
                <a:solidFill>
                  <a:srgbClr val="000000"/>
                </a:solidFill>
                <a:latin typeface="Open Sauce"/>
                <a:ea typeface="Open Sauce"/>
                <a:cs typeface="Open Sauce"/>
                <a:sym typeface="Open Sauce"/>
              </a:rPr>
              <a:t>Nodes: 152,833</a:t>
            </a:r>
          </a:p>
          <a:p>
            <a:pPr marL="1036310" lvl="2" indent="-345437" algn="just">
              <a:lnSpc>
                <a:spcPts val="3359"/>
              </a:lnSpc>
              <a:buFont typeface="Arial"/>
              <a:buChar char="⚬"/>
            </a:pPr>
            <a:r>
              <a:rPr lang="en-US" sz="2399" spc="239" dirty="0">
                <a:solidFill>
                  <a:srgbClr val="000000"/>
                </a:solidFill>
                <a:latin typeface="Open Sauce"/>
                <a:ea typeface="Open Sauce"/>
                <a:cs typeface="Open Sauce"/>
                <a:sym typeface="Open Sauce"/>
              </a:rPr>
              <a:t>Edges: 98,213</a:t>
            </a:r>
          </a:p>
          <a:p>
            <a:pPr marL="1036310" lvl="2" indent="-345437" algn="just">
              <a:lnSpc>
                <a:spcPts val="3359"/>
              </a:lnSpc>
              <a:buFont typeface="Arial"/>
              <a:buChar char="⚬"/>
            </a:pPr>
            <a:r>
              <a:rPr lang="en-US" sz="2399" spc="239" dirty="0">
                <a:solidFill>
                  <a:srgbClr val="000000"/>
                </a:solidFill>
                <a:latin typeface="Open Sauce"/>
                <a:ea typeface="Open Sauce"/>
                <a:cs typeface="Open Sauce"/>
                <a:sym typeface="Open Sauce"/>
              </a:rPr>
              <a:t>Fraud Ratio: 8.36%</a:t>
            </a:r>
          </a:p>
          <a:p>
            <a:pPr marL="518155" lvl="1" indent="-259078" algn="just">
              <a:lnSpc>
                <a:spcPts val="3359"/>
              </a:lnSpc>
              <a:buFont typeface="Arial"/>
              <a:buChar char="•"/>
            </a:pPr>
            <a:r>
              <a:rPr lang="en-US" sz="2399" spc="239" dirty="0">
                <a:solidFill>
                  <a:srgbClr val="000000"/>
                </a:solidFill>
                <a:latin typeface="Open Sauce"/>
                <a:ea typeface="Open Sauce"/>
                <a:cs typeface="Open Sauce"/>
                <a:sym typeface="Open Sauce"/>
              </a:rPr>
              <a:t>To ensure the results are robust and not due to random chance, all experiments were conducted across 20 different random seeds.</a:t>
            </a:r>
          </a:p>
          <a:p>
            <a:pPr algn="just">
              <a:lnSpc>
                <a:spcPts val="3359"/>
              </a:lnSpc>
              <a:spcBef>
                <a:spcPct val="0"/>
              </a:spcBef>
            </a:pPr>
            <a:endParaRPr lang="en-US" sz="2399" spc="239" dirty="0">
              <a:solidFill>
                <a:srgbClr val="000000"/>
              </a:solidFill>
              <a:latin typeface="Open Sauce"/>
              <a:ea typeface="Open Sauce"/>
              <a:cs typeface="Open Sauce"/>
              <a:sym typeface="Open Sauce"/>
            </a:endParaRPr>
          </a:p>
        </p:txBody>
      </p:sp>
      <p:sp>
        <p:nvSpPr>
          <p:cNvPr id="8" name="TextBox 8"/>
          <p:cNvSpPr txBox="1"/>
          <p:nvPr/>
        </p:nvSpPr>
        <p:spPr>
          <a:xfrm>
            <a:off x="1166398" y="5619783"/>
            <a:ext cx="5158201" cy="537845"/>
          </a:xfrm>
          <a:prstGeom prst="rect">
            <a:avLst/>
          </a:prstGeom>
        </p:spPr>
        <p:txBody>
          <a:bodyPr wrap="square" lIns="0" tIns="0" rIns="0" bIns="0" rtlCol="0" anchor="t">
            <a:spAutoFit/>
          </a:bodyPr>
          <a:lstStyle/>
          <a:p>
            <a:pPr>
              <a:lnSpc>
                <a:spcPts val="4480"/>
              </a:lnSpc>
              <a:spcBef>
                <a:spcPct val="0"/>
              </a:spcBef>
            </a:pPr>
            <a:r>
              <a:rPr lang="en-US" sz="3200" b="1" spc="320" dirty="0">
                <a:solidFill>
                  <a:srgbClr val="000000"/>
                </a:solidFill>
                <a:latin typeface="Open Sauce Bold"/>
                <a:ea typeface="Open Sauce Bold"/>
                <a:cs typeface="Open Sauce Bold"/>
                <a:sym typeface="Open Sauce Bold"/>
              </a:rPr>
              <a:t>Evaluation Metrics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aphicFrame>
        <p:nvGraphicFramePr>
          <p:cNvPr id="4" name="Table 4"/>
          <p:cNvGraphicFramePr>
            <a:graphicFrameLocks noGrp="1"/>
          </p:cNvGraphicFramePr>
          <p:nvPr/>
        </p:nvGraphicFramePr>
        <p:xfrm>
          <a:off x="1111377" y="2638772"/>
          <a:ext cx="16092902" cy="7172326"/>
        </p:xfrm>
        <a:graphic>
          <a:graphicData uri="http://schemas.openxmlformats.org/drawingml/2006/table">
            <a:tbl>
              <a:tblPr/>
              <a:tblGrid>
                <a:gridCol w="3046061">
                  <a:extLst>
                    <a:ext uri="{9D8B030D-6E8A-4147-A177-3AD203B41FA5}">
                      <a16:colId xmlns:a16="http://schemas.microsoft.com/office/drawing/2014/main" val="20000"/>
                    </a:ext>
                  </a:extLst>
                </a:gridCol>
                <a:gridCol w="2892488">
                  <a:extLst>
                    <a:ext uri="{9D8B030D-6E8A-4147-A177-3AD203B41FA5}">
                      <a16:colId xmlns:a16="http://schemas.microsoft.com/office/drawing/2014/main" val="20001"/>
                    </a:ext>
                  </a:extLst>
                </a:gridCol>
                <a:gridCol w="2804213">
                  <a:extLst>
                    <a:ext uri="{9D8B030D-6E8A-4147-A177-3AD203B41FA5}">
                      <a16:colId xmlns:a16="http://schemas.microsoft.com/office/drawing/2014/main" val="20002"/>
                    </a:ext>
                  </a:extLst>
                </a:gridCol>
                <a:gridCol w="2877591">
                  <a:extLst>
                    <a:ext uri="{9D8B030D-6E8A-4147-A177-3AD203B41FA5}">
                      <a16:colId xmlns:a16="http://schemas.microsoft.com/office/drawing/2014/main" val="20003"/>
                    </a:ext>
                  </a:extLst>
                </a:gridCol>
                <a:gridCol w="2392983">
                  <a:extLst>
                    <a:ext uri="{9D8B030D-6E8A-4147-A177-3AD203B41FA5}">
                      <a16:colId xmlns:a16="http://schemas.microsoft.com/office/drawing/2014/main" val="20004"/>
                    </a:ext>
                  </a:extLst>
                </a:gridCol>
                <a:gridCol w="2079566">
                  <a:extLst>
                    <a:ext uri="{9D8B030D-6E8A-4147-A177-3AD203B41FA5}">
                      <a16:colId xmlns:a16="http://schemas.microsoft.com/office/drawing/2014/main" val="20005"/>
                    </a:ext>
                  </a:extLst>
                </a:gridCol>
              </a:tblGrid>
              <a:tr h="1024618">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RANK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SEED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TEST F1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TEST AUC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Epochs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Time (s)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444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0.8127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0.9765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60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888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0.6603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0.9558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34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90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999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0.6371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0.9451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39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108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2023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0.6012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0.9339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98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0.5653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0.9262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34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55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024618">
                <a:tc>
                  <a:txBody>
                    <a:bodyPr/>
                    <a:lstStyle/>
                    <a:p>
                      <a:pPr algn="ctr">
                        <a:lnSpc>
                          <a:spcPts val="2800"/>
                        </a:lnSpc>
                        <a:defRPr/>
                      </a:pPr>
                      <a:r>
                        <a:rPr lang="en-US" sz="2000">
                          <a:solidFill>
                            <a:srgbClr val="000000"/>
                          </a:solidFill>
                          <a:latin typeface="Open Sauce"/>
                          <a:ea typeface="Open Sauce"/>
                          <a:cs typeface="Open Sauce"/>
                          <a:sym typeface="Open Sauce"/>
                        </a:rPr>
                        <a:t>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5432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0.5320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0.9169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107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Box 5"/>
          <p:cNvSpPr txBox="1"/>
          <p:nvPr/>
        </p:nvSpPr>
        <p:spPr>
          <a:xfrm>
            <a:off x="1166399" y="1272501"/>
            <a:ext cx="9098600" cy="646430"/>
          </a:xfrm>
          <a:prstGeom prst="rect">
            <a:avLst/>
          </a:prstGeom>
        </p:spPr>
        <p:txBody>
          <a:bodyPr lIns="0" tIns="0" rIns="0" bIns="0" rtlCol="0" anchor="t">
            <a:spAutoFit/>
          </a:bodyPr>
          <a:lstStyle/>
          <a:p>
            <a:pPr algn="l">
              <a:lnSpc>
                <a:spcPts val="5320"/>
              </a:lnSpc>
              <a:spcBef>
                <a:spcPct val="0"/>
              </a:spcBef>
            </a:pPr>
            <a:r>
              <a:rPr lang="en-US" sz="3800" b="1" spc="380">
                <a:solidFill>
                  <a:srgbClr val="000000"/>
                </a:solidFill>
                <a:latin typeface="Canva Sans Bold"/>
                <a:ea typeface="Canva Sans Bold"/>
                <a:cs typeface="Canva Sans Bold"/>
                <a:sym typeface="Canva Sans Bold"/>
              </a:rPr>
              <a:t>Results: Multi-Seed Evaluation</a:t>
            </a:r>
          </a:p>
        </p:txBody>
      </p:sp>
      <p:sp>
        <p:nvSpPr>
          <p:cNvPr id="6" name="TextBox 6"/>
          <p:cNvSpPr txBox="1"/>
          <p:nvPr/>
        </p:nvSpPr>
        <p:spPr>
          <a:xfrm>
            <a:off x="1166399" y="2052157"/>
            <a:ext cx="10814292" cy="405765"/>
          </a:xfrm>
          <a:prstGeom prst="rect">
            <a:avLst/>
          </a:prstGeom>
        </p:spPr>
        <p:txBody>
          <a:bodyPr lIns="0" tIns="0" rIns="0" bIns="0" rtlCol="0" anchor="t">
            <a:spAutoFit/>
          </a:bodyPr>
          <a:lstStyle/>
          <a:p>
            <a:pPr algn="l">
              <a:lnSpc>
                <a:spcPts val="3359"/>
              </a:lnSpc>
              <a:spcBef>
                <a:spcPct val="0"/>
              </a:spcBef>
            </a:pPr>
            <a:r>
              <a:rPr lang="en-US" sz="2400" spc="240">
                <a:solidFill>
                  <a:srgbClr val="000000"/>
                </a:solidFill>
                <a:latin typeface="Open Sauce"/>
                <a:ea typeface="Open Sauce"/>
                <a:cs typeface="Open Sauce"/>
                <a:sym typeface="Open Sauce"/>
              </a:rPr>
              <a:t>Results of Top 6 out of 20 runs: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aphicFrame>
        <p:nvGraphicFramePr>
          <p:cNvPr id="4" name="Table 4"/>
          <p:cNvGraphicFramePr>
            <a:graphicFrameLocks noGrp="1"/>
          </p:cNvGraphicFramePr>
          <p:nvPr>
            <p:extLst>
              <p:ext uri="{D42A27DB-BD31-4B8C-83A1-F6EECF244321}">
                <p14:modId xmlns:p14="http://schemas.microsoft.com/office/powerpoint/2010/main" val="262860503"/>
              </p:ext>
            </p:extLst>
          </p:nvPr>
        </p:nvGraphicFramePr>
        <p:xfrm>
          <a:off x="1166399" y="5296717"/>
          <a:ext cx="7315200" cy="3219451"/>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156689">
                <a:tc>
                  <a:txBody>
                    <a:bodyPr/>
                    <a:lstStyle/>
                    <a:p>
                      <a:pPr algn="ctr">
                        <a:lnSpc>
                          <a:spcPts val="279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a:solidFill>
                            <a:srgbClr val="000000"/>
                          </a:solidFill>
                          <a:latin typeface="Open Sauce Bold"/>
                          <a:ea typeface="Open Sauce Bold"/>
                          <a:cs typeface="Open Sauce Bold"/>
                          <a:sym typeface="Open Sauce Bold"/>
                        </a:rPr>
                        <a:t>Predicted Legit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dirty="0">
                          <a:solidFill>
                            <a:srgbClr val="000000"/>
                          </a:solidFill>
                          <a:latin typeface="Open Sauce Bold"/>
                          <a:ea typeface="Open Sauce Bold"/>
                          <a:cs typeface="Open Sauce Bold"/>
                          <a:sym typeface="Open Sauce Bold"/>
                        </a:rPr>
                        <a:t>Predicted Fraud</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1381">
                <a:tc>
                  <a:txBody>
                    <a:bodyPr/>
                    <a:lstStyle/>
                    <a:p>
                      <a:pPr algn="ctr">
                        <a:lnSpc>
                          <a:spcPts val="2799"/>
                        </a:lnSpc>
                        <a:defRPr/>
                      </a:pPr>
                      <a:r>
                        <a:rPr lang="en-US" sz="1999">
                          <a:solidFill>
                            <a:srgbClr val="000000"/>
                          </a:solidFill>
                          <a:latin typeface="Open Sauce"/>
                          <a:ea typeface="Open Sauce"/>
                          <a:cs typeface="Open Sauce"/>
                          <a:sym typeface="Open Sauce"/>
                        </a:rPr>
                        <a:t>Actual Legit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13,013 (TN)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487 (FP)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31381">
                <a:tc>
                  <a:txBody>
                    <a:bodyPr/>
                    <a:lstStyle/>
                    <a:p>
                      <a:pPr algn="ctr">
                        <a:lnSpc>
                          <a:spcPts val="2799"/>
                        </a:lnSpc>
                        <a:defRPr/>
                      </a:pPr>
                      <a:r>
                        <a:rPr lang="en-US" sz="1999">
                          <a:solidFill>
                            <a:srgbClr val="000000"/>
                          </a:solidFill>
                          <a:latin typeface="Open Sauce"/>
                          <a:ea typeface="Open Sauce"/>
                          <a:cs typeface="Open Sauce"/>
                          <a:sym typeface="Open Sauce"/>
                        </a:rPr>
                        <a:t>Actual Fraud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Open Sauce"/>
                          <a:ea typeface="Open Sauce"/>
                          <a:cs typeface="Open Sauce"/>
                          <a:sym typeface="Open Sauce"/>
                        </a:rPr>
                        <a:t>55 (FN)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Open Sauce"/>
                          <a:ea typeface="Open Sauce"/>
                          <a:cs typeface="Open Sauce"/>
                          <a:sym typeface="Open Sauce"/>
                        </a:rPr>
                        <a:t>1,176 (TP)</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Box 5"/>
          <p:cNvSpPr txBox="1"/>
          <p:nvPr/>
        </p:nvSpPr>
        <p:spPr>
          <a:xfrm>
            <a:off x="1166399" y="1272501"/>
            <a:ext cx="11013708" cy="646430"/>
          </a:xfrm>
          <a:prstGeom prst="rect">
            <a:avLst/>
          </a:prstGeom>
        </p:spPr>
        <p:txBody>
          <a:bodyPr lIns="0" tIns="0" rIns="0" bIns="0" rtlCol="0" anchor="t">
            <a:spAutoFit/>
          </a:bodyPr>
          <a:lstStyle/>
          <a:p>
            <a:pPr algn="l">
              <a:lnSpc>
                <a:spcPts val="5320"/>
              </a:lnSpc>
              <a:spcBef>
                <a:spcPct val="0"/>
              </a:spcBef>
            </a:pPr>
            <a:r>
              <a:rPr lang="en-US" sz="3800" b="1" spc="380">
                <a:solidFill>
                  <a:srgbClr val="000000"/>
                </a:solidFill>
                <a:latin typeface="Canva Sans Bold"/>
                <a:ea typeface="Canva Sans Bold"/>
                <a:cs typeface="Canva Sans Bold"/>
                <a:sym typeface="Canva Sans Bold"/>
              </a:rPr>
              <a:t>Best Model Performance (Seed 444)</a:t>
            </a:r>
          </a:p>
        </p:txBody>
      </p:sp>
      <p:sp>
        <p:nvSpPr>
          <p:cNvPr id="6" name="TextBox 6"/>
          <p:cNvSpPr txBox="1"/>
          <p:nvPr/>
        </p:nvSpPr>
        <p:spPr>
          <a:xfrm>
            <a:off x="1166399" y="2052157"/>
            <a:ext cx="10814292" cy="2501265"/>
          </a:xfrm>
          <a:prstGeom prst="rect">
            <a:avLst/>
          </a:prstGeom>
        </p:spPr>
        <p:txBody>
          <a:bodyPr lIns="0" tIns="0" rIns="0" bIns="0" rtlCol="0" anchor="t">
            <a:spAutoFit/>
          </a:bodyPr>
          <a:lstStyle/>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Extremely high recall (95.5%) means we miss very few fraudulent transactions.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High AUC (97.7%) shows excellent discriminative power.</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Good specificity (96.4%) keeps false alarms on legitimate customers relatively low.</a:t>
            </a:r>
          </a:p>
          <a:p>
            <a:pPr algn="l">
              <a:lnSpc>
                <a:spcPts val="3359"/>
              </a:lnSpc>
              <a:spcBef>
                <a:spcPct val="0"/>
              </a:spcBef>
            </a:pPr>
            <a:endParaRPr lang="en-US" sz="2400" spc="240">
              <a:solidFill>
                <a:srgbClr val="000000"/>
              </a:solidFill>
              <a:latin typeface="Open Sauce"/>
              <a:ea typeface="Open Sauce"/>
              <a:cs typeface="Open Sauce"/>
              <a:sym typeface="Open Sauce"/>
            </a:endParaRPr>
          </a:p>
        </p:txBody>
      </p:sp>
      <p:sp>
        <p:nvSpPr>
          <p:cNvPr id="7" name="TextBox 7"/>
          <p:cNvSpPr txBox="1"/>
          <p:nvPr/>
        </p:nvSpPr>
        <p:spPr>
          <a:xfrm>
            <a:off x="1166399" y="4496272"/>
            <a:ext cx="4624801" cy="527196"/>
          </a:xfrm>
          <a:prstGeom prst="rect">
            <a:avLst/>
          </a:prstGeom>
        </p:spPr>
        <p:txBody>
          <a:bodyPr wrap="square" lIns="0" tIns="0" rIns="0" bIns="0" rtlCol="0" anchor="t">
            <a:spAutoFit/>
          </a:bodyPr>
          <a:lstStyle/>
          <a:p>
            <a:pPr>
              <a:lnSpc>
                <a:spcPts val="4480"/>
              </a:lnSpc>
              <a:spcBef>
                <a:spcPct val="0"/>
              </a:spcBef>
            </a:pPr>
            <a:r>
              <a:rPr lang="en-US" sz="3200" b="1" spc="320" dirty="0">
                <a:solidFill>
                  <a:srgbClr val="000000"/>
                </a:solidFill>
                <a:latin typeface="Open Sauce Bold"/>
                <a:ea typeface="Open Sauce Bold"/>
                <a:cs typeface="Open Sauce Bold"/>
                <a:sym typeface="Open Sauce Bold"/>
              </a:rPr>
              <a:t>Confusion Matrix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pSp>
        <p:nvGrpSpPr>
          <p:cNvPr id="4" name="Group 4"/>
          <p:cNvGrpSpPr/>
          <p:nvPr/>
        </p:nvGrpSpPr>
        <p:grpSpPr>
          <a:xfrm>
            <a:off x="1028700" y="3663750"/>
            <a:ext cx="7718585" cy="5414310"/>
            <a:chOff x="0" y="0"/>
            <a:chExt cx="10291447" cy="7219080"/>
          </a:xfrm>
        </p:grpSpPr>
        <p:sp>
          <p:nvSpPr>
            <p:cNvPr id="5" name="TextBox 5"/>
            <p:cNvSpPr txBox="1"/>
            <p:nvPr/>
          </p:nvSpPr>
          <p:spPr>
            <a:xfrm>
              <a:off x="0" y="-57150"/>
              <a:ext cx="10291447" cy="3505623"/>
            </a:xfrm>
            <a:prstGeom prst="rect">
              <a:avLst/>
            </a:prstGeom>
          </p:spPr>
          <p:txBody>
            <a:bodyPr lIns="0" tIns="0" rIns="0" bIns="0" rtlCol="0" anchor="t">
              <a:spAutoFit/>
            </a:bodyPr>
            <a:lstStyle/>
            <a:p>
              <a:pPr algn="ctr">
                <a:lnSpc>
                  <a:spcPts val="4480"/>
                </a:lnSpc>
              </a:pPr>
              <a:r>
                <a:rPr lang="en-US" sz="3200" b="1" spc="320">
                  <a:solidFill>
                    <a:srgbClr val="000000"/>
                  </a:solidFill>
                  <a:latin typeface="Open Sauce Bold"/>
                  <a:ea typeface="Open Sauce Bold"/>
                  <a:cs typeface="Open Sauce Bold"/>
                  <a:sym typeface="Open Sauce Bold"/>
                </a:rPr>
                <a:t>Transaction Type</a:t>
              </a:r>
            </a:p>
            <a:p>
              <a:pPr algn="ctr">
                <a:lnSpc>
                  <a:spcPts val="3359"/>
                </a:lnSpc>
                <a:spcBef>
                  <a:spcPct val="0"/>
                </a:spcBef>
              </a:pPr>
              <a:r>
                <a:rPr lang="en-US" sz="2400" spc="240">
                  <a:solidFill>
                    <a:srgbClr val="000000"/>
                  </a:solidFill>
                  <a:latin typeface="Open Sauce"/>
                  <a:ea typeface="Open Sauce"/>
                  <a:cs typeface="Open Sauce"/>
                  <a:sym typeface="Open Sauce"/>
                </a:rPr>
                <a:t>The model's high-confidence fraud predictions are almost exclusively CASH_OUT and TRANSFER types, confirming the initial data analysis.</a:t>
              </a:r>
            </a:p>
            <a:p>
              <a:pPr algn="ctr">
                <a:lnSpc>
                  <a:spcPts val="3359"/>
                </a:lnSpc>
                <a:spcBef>
                  <a:spcPct val="0"/>
                </a:spcBef>
              </a:pPr>
              <a:endParaRPr lang="en-US" sz="2400" spc="240">
                <a:solidFill>
                  <a:srgbClr val="000000"/>
                </a:solidFill>
                <a:latin typeface="Open Sauce"/>
                <a:ea typeface="Open Sauce"/>
                <a:cs typeface="Open Sauce"/>
                <a:sym typeface="Open Sauce"/>
              </a:endParaRPr>
            </a:p>
          </p:txBody>
        </p:sp>
        <p:pic>
          <p:nvPicPr>
            <p:cNvPr id="6" name="Picture 6"/>
            <p:cNvPicPr>
              <a:picLocks noChangeAspect="1"/>
            </p:cNvPicPr>
            <p:nvPr/>
          </p:nvPicPr>
          <p:blipFill>
            <a:blip r:embed="rId3"/>
            <a:stretch>
              <a:fillRect/>
            </a:stretch>
          </p:blipFill>
          <p:spPr>
            <a:xfrm>
              <a:off x="1132351" y="2466341"/>
              <a:ext cx="7156636" cy="5349126"/>
            </a:xfrm>
            <a:prstGeom prst="rect">
              <a:avLst/>
            </a:prstGeom>
          </p:spPr>
        </p:pic>
      </p:grpSp>
      <p:grpSp>
        <p:nvGrpSpPr>
          <p:cNvPr id="7" name="Group 7"/>
          <p:cNvGrpSpPr/>
          <p:nvPr/>
        </p:nvGrpSpPr>
        <p:grpSpPr>
          <a:xfrm>
            <a:off x="9144000" y="3663750"/>
            <a:ext cx="7527355" cy="6076178"/>
            <a:chOff x="0" y="0"/>
            <a:chExt cx="10036473" cy="8101571"/>
          </a:xfrm>
        </p:grpSpPr>
        <p:sp>
          <p:nvSpPr>
            <p:cNvPr id="9" name="TextBox 9"/>
            <p:cNvSpPr txBox="1"/>
            <p:nvPr/>
          </p:nvSpPr>
          <p:spPr>
            <a:xfrm>
              <a:off x="0" y="-57150"/>
              <a:ext cx="10036473" cy="2388023"/>
            </a:xfrm>
            <a:prstGeom prst="rect">
              <a:avLst/>
            </a:prstGeom>
          </p:spPr>
          <p:txBody>
            <a:bodyPr lIns="0" tIns="0" rIns="0" bIns="0" rtlCol="0" anchor="t">
              <a:spAutoFit/>
            </a:bodyPr>
            <a:lstStyle/>
            <a:p>
              <a:pPr algn="ctr">
                <a:lnSpc>
                  <a:spcPts val="4480"/>
                </a:lnSpc>
                <a:spcBef>
                  <a:spcPct val="0"/>
                </a:spcBef>
              </a:pPr>
              <a:r>
                <a:rPr lang="en-US" sz="3200" b="1" spc="320">
                  <a:solidFill>
                    <a:srgbClr val="000000"/>
                  </a:solidFill>
                  <a:latin typeface="Open Sauce Bold"/>
                  <a:ea typeface="Open Sauce Bold"/>
                  <a:cs typeface="Open Sauce Bold"/>
                  <a:sym typeface="Open Sauce Bold"/>
                </a:rPr>
                <a:t>Transaction Amount</a:t>
              </a:r>
            </a:p>
            <a:p>
              <a:pPr algn="ctr">
                <a:lnSpc>
                  <a:spcPts val="3359"/>
                </a:lnSpc>
                <a:spcBef>
                  <a:spcPct val="0"/>
                </a:spcBef>
              </a:pPr>
              <a:r>
                <a:rPr lang="en-US" sz="2400" spc="240">
                  <a:solidFill>
                    <a:srgbClr val="000000"/>
                  </a:solidFill>
                  <a:latin typeface="Open Sauce"/>
                  <a:ea typeface="Open Sauce"/>
                  <a:cs typeface="Open Sauce"/>
                  <a:sym typeface="Open Sauce"/>
                </a:rPr>
                <a:t>Fraudulent transactions detected by the model tend to be very large amounts, often maxing out account balances.</a:t>
              </a:r>
            </a:p>
          </p:txBody>
        </p:sp>
      </p:grpSp>
      <p:graphicFrame>
        <p:nvGraphicFramePr>
          <p:cNvPr id="8" name="Table 8"/>
          <p:cNvGraphicFramePr>
            <a:graphicFrameLocks noGrp="1"/>
          </p:cNvGraphicFramePr>
          <p:nvPr>
            <p:extLst>
              <p:ext uri="{D42A27DB-BD31-4B8C-83A1-F6EECF244321}">
                <p14:modId xmlns:p14="http://schemas.microsoft.com/office/powerpoint/2010/main" val="2440171718"/>
              </p:ext>
            </p:extLst>
          </p:nvPr>
        </p:nvGraphicFramePr>
        <p:xfrm>
          <a:off x="9840456" y="5787703"/>
          <a:ext cx="6830899" cy="4057130"/>
        </p:xfrm>
        <a:graphic>
          <a:graphicData uri="http://schemas.openxmlformats.org/drawingml/2006/table">
            <a:tbl>
              <a:tblPr/>
              <a:tblGrid>
                <a:gridCol w="3198006">
                  <a:extLst>
                    <a:ext uri="{9D8B030D-6E8A-4147-A177-3AD203B41FA5}">
                      <a16:colId xmlns:a16="http://schemas.microsoft.com/office/drawing/2014/main" val="20000"/>
                    </a:ext>
                  </a:extLst>
                </a:gridCol>
                <a:gridCol w="3632893">
                  <a:extLst>
                    <a:ext uri="{9D8B030D-6E8A-4147-A177-3AD203B41FA5}">
                      <a16:colId xmlns:a16="http://schemas.microsoft.com/office/drawing/2014/main" val="20001"/>
                    </a:ext>
                  </a:extLst>
                </a:gridCol>
              </a:tblGrid>
              <a:tr h="798070">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Statistic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Value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98070">
                <a:tc>
                  <a:txBody>
                    <a:bodyPr/>
                    <a:lstStyle/>
                    <a:p>
                      <a:pPr algn="ctr">
                        <a:lnSpc>
                          <a:spcPts val="2800"/>
                        </a:lnSpc>
                        <a:defRPr/>
                      </a:pPr>
                      <a:r>
                        <a:rPr lang="en-US" sz="2000">
                          <a:solidFill>
                            <a:srgbClr val="000000"/>
                          </a:solidFill>
                          <a:latin typeface="Open Sauce"/>
                          <a:ea typeface="Open Sauce"/>
                          <a:cs typeface="Open Sauce"/>
                          <a:sym typeface="Open Sauce"/>
                        </a:rPr>
                        <a:t>Mean Amount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$7,943,249.00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0330">
                <a:tc>
                  <a:txBody>
                    <a:bodyPr/>
                    <a:lstStyle/>
                    <a:p>
                      <a:pPr algn="ctr">
                        <a:lnSpc>
                          <a:spcPts val="2800"/>
                        </a:lnSpc>
                        <a:defRPr/>
                      </a:pPr>
                      <a:r>
                        <a:rPr lang="en-US" sz="2000">
                          <a:solidFill>
                            <a:srgbClr val="000000"/>
                          </a:solidFill>
                          <a:latin typeface="Open Sauce"/>
                          <a:ea typeface="Open Sauce"/>
                          <a:cs typeface="Open Sauce"/>
                          <a:sym typeface="Open Sauce"/>
                        </a:rPr>
                        <a:t>Median Amount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$10,000,000.00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0330">
                <a:tc>
                  <a:txBody>
                    <a:bodyPr/>
                    <a:lstStyle/>
                    <a:p>
                      <a:pPr algn="ctr">
                        <a:lnSpc>
                          <a:spcPts val="2800"/>
                        </a:lnSpc>
                        <a:defRPr/>
                      </a:pPr>
                      <a:r>
                        <a:rPr lang="en-US" sz="2000">
                          <a:solidFill>
                            <a:srgbClr val="000000"/>
                          </a:solidFill>
                          <a:latin typeface="Open Sauce"/>
                          <a:ea typeface="Open Sauce"/>
                          <a:cs typeface="Open Sauce"/>
                          <a:sym typeface="Open Sauce"/>
                        </a:rPr>
                        <a:t>Standard Deviation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$3,602,469.25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0330">
                <a:tc>
                  <a:txBody>
                    <a:bodyPr/>
                    <a:lstStyle/>
                    <a:p>
                      <a:pPr algn="ctr">
                        <a:lnSpc>
                          <a:spcPts val="2800"/>
                        </a:lnSpc>
                        <a:defRPr/>
                      </a:pPr>
                      <a:r>
                        <a:rPr lang="en-US" sz="2000">
                          <a:solidFill>
                            <a:srgbClr val="000000"/>
                          </a:solidFill>
                          <a:latin typeface="Open Sauce"/>
                          <a:ea typeface="Open Sauce"/>
                          <a:cs typeface="Open Sauce"/>
                          <a:sym typeface="Open Sauce"/>
                        </a:rPr>
                        <a:t>Range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Open Sauce"/>
                          <a:ea typeface="Open Sauce"/>
                          <a:cs typeface="Open Sauce"/>
                          <a:sym typeface="Open Sauce"/>
                        </a:rPr>
                        <a:t>$0.00 - $10,000,000.00</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Box 10"/>
          <p:cNvSpPr txBox="1"/>
          <p:nvPr/>
        </p:nvSpPr>
        <p:spPr>
          <a:xfrm>
            <a:off x="1166399" y="2560121"/>
            <a:ext cx="15665211" cy="646430"/>
          </a:xfrm>
          <a:prstGeom prst="rect">
            <a:avLst/>
          </a:prstGeom>
        </p:spPr>
        <p:txBody>
          <a:bodyPr lIns="0" tIns="0" rIns="0" bIns="0" rtlCol="0" anchor="t">
            <a:spAutoFit/>
          </a:bodyPr>
          <a:lstStyle/>
          <a:p>
            <a:pPr algn="l">
              <a:lnSpc>
                <a:spcPts val="5320"/>
              </a:lnSpc>
              <a:spcBef>
                <a:spcPct val="0"/>
              </a:spcBef>
            </a:pPr>
            <a:r>
              <a:rPr lang="en-US" sz="3800" b="1" spc="380">
                <a:solidFill>
                  <a:srgbClr val="000000"/>
                </a:solidFill>
                <a:latin typeface="Canva Sans Bold"/>
                <a:ea typeface="Canva Sans Bold"/>
                <a:cs typeface="Canva Sans Bold"/>
                <a:sym typeface="Canva Sans Bold"/>
              </a:rPr>
              <a:t>Feature Analysis: What does the model find?</a:t>
            </a:r>
          </a:p>
        </p:txBody>
      </p:sp>
      <p:sp>
        <p:nvSpPr>
          <p:cNvPr id="11" name="TextBox 11"/>
          <p:cNvSpPr txBox="1"/>
          <p:nvPr/>
        </p:nvSpPr>
        <p:spPr>
          <a:xfrm>
            <a:off x="1166399" y="1090950"/>
            <a:ext cx="1566521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Analysis &amp; Comparison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aphicFrame>
        <p:nvGraphicFramePr>
          <p:cNvPr id="4" name="Table 4"/>
          <p:cNvGraphicFramePr>
            <a:graphicFrameLocks noGrp="1"/>
          </p:cNvGraphicFramePr>
          <p:nvPr/>
        </p:nvGraphicFramePr>
        <p:xfrm>
          <a:off x="1166399" y="4145675"/>
          <a:ext cx="16092902" cy="5133975"/>
        </p:xfrm>
        <a:graphic>
          <a:graphicData uri="http://schemas.openxmlformats.org/drawingml/2006/table">
            <a:tbl>
              <a:tblPr/>
              <a:tblGrid>
                <a:gridCol w="4764872">
                  <a:extLst>
                    <a:ext uri="{9D8B030D-6E8A-4147-A177-3AD203B41FA5}">
                      <a16:colId xmlns:a16="http://schemas.microsoft.com/office/drawing/2014/main" val="20000"/>
                    </a:ext>
                  </a:extLst>
                </a:gridCol>
                <a:gridCol w="2439338">
                  <a:extLst>
                    <a:ext uri="{9D8B030D-6E8A-4147-A177-3AD203B41FA5}">
                      <a16:colId xmlns:a16="http://schemas.microsoft.com/office/drawing/2014/main" val="20001"/>
                    </a:ext>
                  </a:extLst>
                </a:gridCol>
                <a:gridCol w="2408553">
                  <a:extLst>
                    <a:ext uri="{9D8B030D-6E8A-4147-A177-3AD203B41FA5}">
                      <a16:colId xmlns:a16="http://schemas.microsoft.com/office/drawing/2014/main" val="20002"/>
                    </a:ext>
                  </a:extLst>
                </a:gridCol>
                <a:gridCol w="2100727">
                  <a:extLst>
                    <a:ext uri="{9D8B030D-6E8A-4147-A177-3AD203B41FA5}">
                      <a16:colId xmlns:a16="http://schemas.microsoft.com/office/drawing/2014/main" val="20003"/>
                    </a:ext>
                  </a:extLst>
                </a:gridCol>
                <a:gridCol w="2082275">
                  <a:extLst>
                    <a:ext uri="{9D8B030D-6E8A-4147-A177-3AD203B41FA5}">
                      <a16:colId xmlns:a16="http://schemas.microsoft.com/office/drawing/2014/main" val="20004"/>
                    </a:ext>
                  </a:extLst>
                </a:gridCol>
                <a:gridCol w="2297137">
                  <a:extLst>
                    <a:ext uri="{9D8B030D-6E8A-4147-A177-3AD203B41FA5}">
                      <a16:colId xmlns:a16="http://schemas.microsoft.com/office/drawing/2014/main" val="20005"/>
                    </a:ext>
                  </a:extLst>
                </a:gridCol>
              </a:tblGrid>
              <a:tr h="102679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AUC_ROC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F1-Score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Precision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Recall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Specificity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679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Best GAT 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0.9765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0.8127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0.7072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0.9553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0.9639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679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Logistic Regression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0.9830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0.5152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0.3474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0.9968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0.8293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679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0.9998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0.2183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0.1225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1.0000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0.3471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6795">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Gradient Boosting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0.9827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0.1542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0.0836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1.0000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0.0000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5"/>
          <p:cNvSpPr txBox="1"/>
          <p:nvPr/>
        </p:nvSpPr>
        <p:spPr>
          <a:xfrm>
            <a:off x="1166399" y="1446894"/>
            <a:ext cx="15665211" cy="646430"/>
          </a:xfrm>
          <a:prstGeom prst="rect">
            <a:avLst/>
          </a:prstGeom>
        </p:spPr>
        <p:txBody>
          <a:bodyPr lIns="0" tIns="0" rIns="0" bIns="0" rtlCol="0" anchor="t">
            <a:spAutoFit/>
          </a:bodyPr>
          <a:lstStyle/>
          <a:p>
            <a:pPr algn="l">
              <a:lnSpc>
                <a:spcPts val="5320"/>
              </a:lnSpc>
              <a:spcBef>
                <a:spcPct val="0"/>
              </a:spcBef>
            </a:pPr>
            <a:r>
              <a:rPr lang="en-US" sz="3800" b="1" spc="380">
                <a:solidFill>
                  <a:srgbClr val="000000"/>
                </a:solidFill>
                <a:latin typeface="Canva Sans Bold"/>
                <a:ea typeface="Canva Sans Bold"/>
                <a:cs typeface="Canva Sans Bold"/>
                <a:sym typeface="Canva Sans Bold"/>
              </a:rPr>
              <a:t>Comparison with Traditional ML Models</a:t>
            </a:r>
          </a:p>
        </p:txBody>
      </p:sp>
      <p:sp>
        <p:nvSpPr>
          <p:cNvPr id="6" name="TextBox 6"/>
          <p:cNvSpPr txBox="1"/>
          <p:nvPr/>
        </p:nvSpPr>
        <p:spPr>
          <a:xfrm>
            <a:off x="1166399" y="2502899"/>
            <a:ext cx="16092901" cy="1243965"/>
          </a:xfrm>
          <a:prstGeom prst="rect">
            <a:avLst/>
          </a:prstGeom>
        </p:spPr>
        <p:txBody>
          <a:bodyPr lIns="0" tIns="0" rIns="0" bIns="0" rtlCol="0" anchor="t">
            <a:spAutoFit/>
          </a:bodyPr>
          <a:lstStyle/>
          <a:p>
            <a:pPr algn="just">
              <a:lnSpc>
                <a:spcPts val="3359"/>
              </a:lnSpc>
              <a:spcBef>
                <a:spcPct val="0"/>
              </a:spcBef>
            </a:pPr>
            <a:r>
              <a:rPr lang="en-US" sz="2400" spc="240">
                <a:solidFill>
                  <a:srgbClr val="000000"/>
                </a:solidFill>
                <a:latin typeface="Open Sauce"/>
                <a:ea typeface="Open Sauce"/>
                <a:cs typeface="Open Sauce"/>
                <a:sym typeface="Open Sauce"/>
              </a:rPr>
              <a:t>The GAT model was compared against several standard ML models using the same features and data splits. While some models achieve higher AUC or Recall by flagging almost everything, they suffer from extremely low Precision, rendering them impractical.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1166399" y="1286732"/>
            <a:ext cx="11360891" cy="7713535"/>
          </a:xfrm>
          <a:custGeom>
            <a:avLst/>
            <a:gdLst/>
            <a:ahLst/>
            <a:cxnLst/>
            <a:rect l="l" t="t" r="r" b="b"/>
            <a:pathLst>
              <a:path w="11360891" h="7713535">
                <a:moveTo>
                  <a:pt x="0" y="0"/>
                </a:moveTo>
                <a:lnTo>
                  <a:pt x="11360890" y="0"/>
                </a:lnTo>
                <a:lnTo>
                  <a:pt x="11360890" y="7713536"/>
                </a:lnTo>
                <a:lnTo>
                  <a:pt x="0" y="7713536"/>
                </a:lnTo>
                <a:lnTo>
                  <a:pt x="0" y="0"/>
                </a:lnTo>
                <a:close/>
              </a:path>
            </a:pathLst>
          </a:custGeom>
          <a:blipFill>
            <a:blip r:embed="rId3"/>
            <a:stretch>
              <a:fillRect t="-17" r="-2390" b="-17"/>
            </a:stretch>
          </a:blipFill>
        </p:spPr>
      </p:sp>
      <p:sp>
        <p:nvSpPr>
          <p:cNvPr id="5" name="TextBox 5"/>
          <p:cNvSpPr txBox="1"/>
          <p:nvPr/>
        </p:nvSpPr>
        <p:spPr>
          <a:xfrm>
            <a:off x="12792129" y="1239107"/>
            <a:ext cx="4624740" cy="6692265"/>
          </a:xfrm>
          <a:prstGeom prst="rect">
            <a:avLst/>
          </a:prstGeom>
        </p:spPr>
        <p:txBody>
          <a:bodyPr lIns="0" tIns="0" rIns="0" bIns="0" rtlCol="0" anchor="t">
            <a:spAutoFit/>
          </a:bodyPr>
          <a:lstStyle/>
          <a:p>
            <a:pPr algn="l">
              <a:lnSpc>
                <a:spcPts val="3359"/>
              </a:lnSpc>
              <a:spcBef>
                <a:spcPct val="0"/>
              </a:spcBef>
            </a:pPr>
            <a:r>
              <a:rPr lang="en-US" sz="2400" spc="240">
                <a:solidFill>
                  <a:srgbClr val="000000"/>
                </a:solidFill>
                <a:latin typeface="Open Sauce"/>
                <a:ea typeface="Open Sauce"/>
                <a:cs typeface="Open Sauce"/>
                <a:sym typeface="Open Sauce"/>
              </a:rPr>
              <a:t>The GAT model provides the best balance between catching fraud (Recall) and avoiding false alarms (Precision), as demonstrated by its significantly higher F1-Score.</a:t>
            </a:r>
          </a:p>
          <a:p>
            <a:pPr algn="l">
              <a:lnSpc>
                <a:spcPts val="3359"/>
              </a:lnSpc>
              <a:spcBef>
                <a:spcPct val="0"/>
              </a:spcBef>
            </a:pPr>
            <a:endParaRPr lang="en-US" sz="2400" spc="240">
              <a:solidFill>
                <a:srgbClr val="000000"/>
              </a:solidFill>
              <a:latin typeface="Open Sauce"/>
              <a:ea typeface="Open Sauce"/>
              <a:cs typeface="Open Sauce"/>
              <a:sym typeface="Open Sauce"/>
            </a:endParaRPr>
          </a:p>
          <a:p>
            <a:pPr algn="l">
              <a:lnSpc>
                <a:spcPts val="3359"/>
              </a:lnSpc>
              <a:spcBef>
                <a:spcPct val="0"/>
              </a:spcBef>
            </a:pPr>
            <a:r>
              <a:rPr lang="en-US" sz="2400" spc="240">
                <a:solidFill>
                  <a:srgbClr val="000000"/>
                </a:solidFill>
                <a:latin typeface="Open Sauce"/>
                <a:ea typeface="Open Sauce"/>
                <a:cs typeface="Open Sauce"/>
                <a:sym typeface="Open Sauce"/>
              </a:rPr>
              <a:t>Traditional models achieve perfect recall at the cost of flagging many legitimate transactions as fraud, making the GAT's balanced approach superior.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090950"/>
            <a:ext cx="1566521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Conclusion</a:t>
            </a:r>
          </a:p>
        </p:txBody>
      </p:sp>
      <p:sp>
        <p:nvSpPr>
          <p:cNvPr id="5" name="TextBox 5"/>
          <p:cNvSpPr txBox="1"/>
          <p:nvPr/>
        </p:nvSpPr>
        <p:spPr>
          <a:xfrm>
            <a:off x="1166399" y="2128540"/>
            <a:ext cx="16092901" cy="7111365"/>
          </a:xfrm>
          <a:prstGeom prst="rect">
            <a:avLst/>
          </a:prstGeom>
        </p:spPr>
        <p:txBody>
          <a:bodyPr lIns="0" tIns="0" rIns="0" bIns="0" rtlCol="0" anchor="t">
            <a:spAutoFit/>
          </a:bodyPr>
          <a:lstStyle/>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Model Performance</a:t>
            </a:r>
            <a:r>
              <a:rPr lang="en-US" sz="2400" spc="240">
                <a:solidFill>
                  <a:srgbClr val="000000"/>
                </a:solidFill>
                <a:latin typeface="Open Sauce"/>
                <a:ea typeface="Open Sauce"/>
                <a:cs typeface="Open Sauce"/>
                <a:sym typeface="Open Sauce"/>
              </a:rPr>
              <a:t>: The GAT model's high F1-score and AUC demonstrate its effectiveness. The high recall is critical for minimizing financial loss, while the reasonable precision makes it practical for real-world use.</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Impact of Imbalance Techniques</a:t>
            </a:r>
            <a:r>
              <a:rPr lang="en-US" sz="2400" spc="240">
                <a:solidFill>
                  <a:srgbClr val="000000"/>
                </a:solidFill>
                <a:latin typeface="Open Sauce"/>
                <a:ea typeface="Open Sauce"/>
                <a:cs typeface="Open Sauce"/>
                <a:sym typeface="Open Sauce"/>
              </a:rPr>
              <a:t>: The combination of strategic sampling (down-sampling, SMOTE-like oversampling) and a hybrid loss function (Focal + BCE) was crucial for teaching the model to identify the rare fraud class effectively.</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Graph Structure Benefits</a:t>
            </a:r>
            <a:r>
              <a:rPr lang="en-US" sz="2400" spc="240">
                <a:solidFill>
                  <a:srgbClr val="000000"/>
                </a:solidFill>
                <a:latin typeface="Open Sauce"/>
                <a:ea typeface="Open Sauce"/>
                <a:cs typeface="Open Sauce"/>
                <a:sym typeface="Open Sauce"/>
              </a:rPr>
              <a:t>: The graph-based approach successfully captured relational patterns that traditional methods miss. The attention mechanism allowed the model to focus on the most indicative connections, likely helping to identify coordinated fraudulent behaviors.</a:t>
            </a:r>
          </a:p>
          <a:p>
            <a:pPr algn="l">
              <a:lnSpc>
                <a:spcPts val="3359"/>
              </a:lnSpc>
            </a:pPr>
            <a:endParaRPr lang="en-US" sz="2400" spc="240">
              <a:solidFill>
                <a:srgbClr val="000000"/>
              </a:solidFill>
              <a:latin typeface="Open Sauce"/>
              <a:ea typeface="Open Sauce"/>
              <a:cs typeface="Open Sauce"/>
              <a:sym typeface="Open Sauce"/>
            </a:endParaRPr>
          </a:p>
          <a:p>
            <a:pPr algn="l">
              <a:lnSpc>
                <a:spcPts val="3359"/>
              </a:lnSpc>
            </a:pPr>
            <a:r>
              <a:rPr lang="en-US" sz="2400" b="1" spc="240">
                <a:solidFill>
                  <a:srgbClr val="000000"/>
                </a:solidFill>
                <a:latin typeface="Open Sauce Bold"/>
                <a:ea typeface="Open Sauce Bold"/>
                <a:cs typeface="Open Sauce Bold"/>
                <a:sym typeface="Open Sauce Bold"/>
              </a:rPr>
              <a:t>Limitations and Challenges</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Scalability</a:t>
            </a:r>
            <a:r>
              <a:rPr lang="en-US" sz="2400" spc="240">
                <a:solidFill>
                  <a:srgbClr val="000000"/>
                </a:solidFill>
                <a:latin typeface="Open Sauce"/>
                <a:ea typeface="Open Sauce"/>
                <a:cs typeface="Open Sauce"/>
                <a:sym typeface="Open Sauce"/>
              </a:rPr>
              <a:t>: Computational complexity increases with graph size.</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Interpretability</a:t>
            </a:r>
            <a:r>
              <a:rPr lang="en-US" sz="2400" spc="240">
                <a:solidFill>
                  <a:srgbClr val="000000"/>
                </a:solidFill>
                <a:latin typeface="Open Sauce"/>
                <a:ea typeface="Open Sauce"/>
                <a:cs typeface="Open Sauce"/>
                <a:sym typeface="Open Sauce"/>
              </a:rPr>
              <a:t>: GNNs are inherently 'black box', requiring extra work for explainability.</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Real-Time Detection</a:t>
            </a:r>
            <a:r>
              <a:rPr lang="en-US" sz="2400" spc="240">
                <a:solidFill>
                  <a:srgbClr val="000000"/>
                </a:solidFill>
                <a:latin typeface="Open Sauce"/>
                <a:ea typeface="Open Sauce"/>
                <a:cs typeface="Open Sauce"/>
                <a:sym typeface="Open Sauce"/>
              </a:rPr>
              <a:t>: Handling dynamic graph updates efficiently is a challenge.</a:t>
            </a:r>
          </a:p>
          <a:p>
            <a:pPr marL="518160" lvl="1" indent="-259080" algn="l">
              <a:lnSpc>
                <a:spcPts val="3359"/>
              </a:lnSpc>
              <a:buFont typeface="Arial"/>
              <a:buChar char="•"/>
            </a:pPr>
            <a:r>
              <a:rPr lang="en-US" sz="2400" u="sng" spc="240">
                <a:solidFill>
                  <a:srgbClr val="000000"/>
                </a:solidFill>
                <a:latin typeface="Open Sauce"/>
                <a:ea typeface="Open Sauce"/>
                <a:cs typeface="Open Sauce"/>
                <a:sym typeface="Open Sauce"/>
              </a:rPr>
              <a:t>Generalization</a:t>
            </a:r>
            <a:r>
              <a:rPr lang="en-US" sz="2400" spc="240">
                <a:solidFill>
                  <a:srgbClr val="000000"/>
                </a:solidFill>
                <a:latin typeface="Open Sauce"/>
                <a:ea typeface="Open Sauce"/>
                <a:cs typeface="Open Sauce"/>
                <a:sym typeface="Open Sauce"/>
              </a:rPr>
              <a:t>: A model trained on one bank's data may not work perfectly for another.</a:t>
            </a:r>
          </a:p>
          <a:p>
            <a:pPr algn="l">
              <a:lnSpc>
                <a:spcPts val="3359"/>
              </a:lnSpc>
            </a:pPr>
            <a:endParaRPr lang="en-US" sz="2400" spc="240">
              <a:solidFill>
                <a:srgbClr val="000000"/>
              </a:solidFill>
              <a:latin typeface="Open Sauce"/>
              <a:ea typeface="Open Sauce"/>
              <a:cs typeface="Open Sauce"/>
              <a:sym typeface="Open Sauc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370442"/>
            <a:ext cx="16092901" cy="6674485"/>
          </a:xfrm>
          <a:prstGeom prst="rect">
            <a:avLst/>
          </a:prstGeom>
        </p:spPr>
        <p:txBody>
          <a:bodyPr lIns="0" tIns="0" rIns="0" bIns="0" rtlCol="0" anchor="t">
            <a:spAutoFit/>
          </a:bodyPr>
          <a:lstStyle/>
          <a:p>
            <a:pPr algn="l">
              <a:lnSpc>
                <a:spcPts val="5320"/>
              </a:lnSpc>
            </a:pPr>
            <a:r>
              <a:rPr lang="en-US" sz="3800" b="1" spc="380">
                <a:solidFill>
                  <a:srgbClr val="000000"/>
                </a:solidFill>
                <a:latin typeface="Canva Sans Bold"/>
                <a:ea typeface="Canva Sans Bold"/>
                <a:cs typeface="Canva Sans Bold"/>
                <a:sym typeface="Canva Sans Bold"/>
              </a:rPr>
              <a:t>Future Research Directions</a:t>
            </a:r>
          </a:p>
          <a:p>
            <a:pPr algn="l">
              <a:lnSpc>
                <a:spcPts val="4480"/>
              </a:lnSpc>
            </a:pPr>
            <a:endParaRPr lang="en-US" sz="3800" b="1" spc="380">
              <a:solidFill>
                <a:srgbClr val="000000"/>
              </a:solidFill>
              <a:latin typeface="Canva Sans Bold"/>
              <a:ea typeface="Canva Sans Bold"/>
              <a:cs typeface="Canva Sans Bold"/>
              <a:sym typeface="Canva Sans Bold"/>
            </a:endParaRPr>
          </a:p>
          <a:p>
            <a:pPr algn="l">
              <a:lnSpc>
                <a:spcPts val="3359"/>
              </a:lnSpc>
            </a:pPr>
            <a:r>
              <a:rPr lang="en-US" sz="2400" b="1" spc="240">
                <a:solidFill>
                  <a:srgbClr val="000000"/>
                </a:solidFill>
                <a:latin typeface="Open Sauce Bold"/>
                <a:ea typeface="Open Sauce Bold"/>
                <a:cs typeface="Open Sauce Bold"/>
                <a:sym typeface="Open Sauce Bold"/>
              </a:rPr>
              <a:t>Model Enhancements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Online learning for real-time adaptation.</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Heterogeneous GNNs for richer representations.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Temporal GNNs for dynamic patterns.</a:t>
            </a:r>
          </a:p>
          <a:p>
            <a:pPr algn="l">
              <a:lnSpc>
                <a:spcPts val="3359"/>
              </a:lnSpc>
            </a:pPr>
            <a:r>
              <a:rPr lang="en-US" sz="2400" b="1" spc="240">
                <a:solidFill>
                  <a:srgbClr val="000000"/>
                </a:solidFill>
                <a:latin typeface="Open Sauce Bold"/>
                <a:ea typeface="Open Sauce Bold"/>
                <a:cs typeface="Open Sauce Bold"/>
                <a:sym typeface="Open Sauce Bold"/>
              </a:rPr>
              <a:t>Application Extensions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Cross-institutional fraud detection.</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Integration with Explainable AI (XAI) techniques.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Adaptation to other fraud types (e.g., insurance, e-commerce).</a:t>
            </a:r>
          </a:p>
          <a:p>
            <a:pPr algn="l">
              <a:lnSpc>
                <a:spcPts val="3359"/>
              </a:lnSpc>
            </a:pPr>
            <a:r>
              <a:rPr lang="en-US" sz="2400" b="1" spc="240">
                <a:solidFill>
                  <a:srgbClr val="000000"/>
                </a:solidFill>
                <a:latin typeface="Open Sauce Bold"/>
                <a:ea typeface="Open Sauce Bold"/>
                <a:cs typeface="Open Sauce Bold"/>
                <a:sym typeface="Open Sauce Bold"/>
              </a:rPr>
              <a:t>Technical Improvements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Optimization for large-scale deployment.</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Ensemble methods combining multiple graph models.</a:t>
            </a:r>
          </a:p>
          <a:p>
            <a:pPr marL="518160" lvl="1" indent="-259080" algn="l">
              <a:lnSpc>
                <a:spcPts val="3359"/>
              </a:lnSpc>
              <a:buFont typeface="Arial"/>
              <a:buChar char="•"/>
            </a:pPr>
            <a:r>
              <a:rPr lang="en-US" sz="2400" spc="240">
                <a:solidFill>
                  <a:srgbClr val="000000"/>
                </a:solidFill>
                <a:latin typeface="Open Sauce"/>
                <a:ea typeface="Open Sauce"/>
                <a:cs typeface="Open Sauce"/>
                <a:sym typeface="Open Sauce"/>
              </a:rPr>
              <a:t>Federated learning for privacy-preserving detection.</a:t>
            </a:r>
          </a:p>
          <a:p>
            <a:pPr algn="l">
              <a:lnSpc>
                <a:spcPts val="3359"/>
              </a:lnSpc>
            </a:pPr>
            <a:endParaRPr lang="en-US" sz="2400" spc="240">
              <a:solidFill>
                <a:srgbClr val="000000"/>
              </a:solidFill>
              <a:latin typeface="Open Sauce"/>
              <a:ea typeface="Open Sauce"/>
              <a:cs typeface="Open Sauce"/>
              <a:sym typeface="Open Sauc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
        <p:nvSpPr>
          <p:cNvPr id="5" name="TextBox 5"/>
          <p:cNvSpPr txBox="1"/>
          <p:nvPr/>
        </p:nvSpPr>
        <p:spPr>
          <a:xfrm>
            <a:off x="1028700" y="7769303"/>
            <a:ext cx="16230600" cy="701675"/>
          </a:xfrm>
          <a:prstGeom prst="rect">
            <a:avLst/>
          </a:prstGeom>
        </p:spPr>
        <p:txBody>
          <a:bodyPr lIns="0" tIns="0" rIns="0" bIns="0" rtlCol="0" anchor="t">
            <a:spAutoFit/>
          </a:bodyPr>
          <a:lstStyle/>
          <a:p>
            <a:pPr algn="l">
              <a:lnSpc>
                <a:spcPts val="2800"/>
              </a:lnSpc>
              <a:spcBef>
                <a:spcPct val="0"/>
              </a:spcBef>
            </a:pPr>
            <a:r>
              <a:rPr lang="en-US" sz="2000" spc="200" dirty="0">
                <a:solidFill>
                  <a:srgbClr val="000000"/>
                </a:solidFill>
                <a:latin typeface="Open Sauce"/>
                <a:ea typeface="Open Sauce"/>
                <a:cs typeface="Open Sauce"/>
                <a:sym typeface="Open Sauce"/>
              </a:rPr>
              <a:t>Complete source code, data, and documentation for this project are publicly available for full reproducibility.</a:t>
            </a:r>
          </a:p>
          <a:p>
            <a:pPr algn="l">
              <a:lnSpc>
                <a:spcPts val="2800"/>
              </a:lnSpc>
              <a:spcBef>
                <a:spcPct val="0"/>
              </a:spcBef>
            </a:pPr>
            <a:r>
              <a:rPr lang="en-US" sz="2000" u="sng" spc="200" dirty="0">
                <a:solidFill>
                  <a:srgbClr val="000000"/>
                </a:solidFill>
                <a:latin typeface="Open Sauce"/>
                <a:ea typeface="Open Sauce"/>
                <a:cs typeface="Open Sauce"/>
                <a:sym typeface="Open Sauce"/>
              </a:rPr>
              <a:t>GitHub</a:t>
            </a:r>
            <a:r>
              <a:rPr lang="en-US" sz="2000" spc="200" dirty="0">
                <a:solidFill>
                  <a:srgbClr val="000000"/>
                </a:solidFill>
                <a:latin typeface="Open Sauce"/>
                <a:ea typeface="Open Sauce"/>
                <a:cs typeface="Open Sauce"/>
                <a:sym typeface="Open Sauce"/>
              </a:rPr>
              <a:t>: </a:t>
            </a:r>
            <a:r>
              <a:rPr lang="en-US" sz="2000" u="sng" spc="200" dirty="0">
                <a:solidFill>
                  <a:srgbClr val="000000"/>
                </a:solidFill>
                <a:latin typeface="Open Sauce"/>
                <a:ea typeface="Open Sauce"/>
                <a:cs typeface="Open Sauce"/>
                <a:sym typeface="Open Sauce"/>
                <a:hlinkClick r:id="rId3" tooltip="https://github.com/laksh0820/Financial-Fraud-Detection"/>
              </a:rPr>
              <a:t>https://github.com/laksh0820/Financial-Fraud-Detection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2023</Words>
  <Application>Microsoft Office PowerPoint</Application>
  <PresentationFormat>Custom</PresentationFormat>
  <Paragraphs>276</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Open Sauce</vt:lpstr>
      <vt:lpstr>Arial</vt:lpstr>
      <vt:lpstr>Open Sauce Semi-Bold</vt:lpstr>
      <vt:lpstr>Calibri</vt:lpstr>
      <vt:lpstr>DM Serif Display</vt:lpstr>
      <vt:lpstr>Cambria Math</vt:lpstr>
      <vt:lpstr>Open Sauce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Minimalist Pitch Deck Marketing Presentation</dc:title>
  <cp:lastModifiedBy>Lakshya Agrawal</cp:lastModifiedBy>
  <cp:revision>4</cp:revision>
  <dcterms:created xsi:type="dcterms:W3CDTF">2006-08-16T00:00:00Z</dcterms:created>
  <dcterms:modified xsi:type="dcterms:W3CDTF">2025-11-01T10:53:13Z</dcterms:modified>
  <dc:identifier>DAG3brpnoEY</dc:identifier>
</cp:coreProperties>
</file>